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8" r:id="rId10"/>
    <p:sldId id="264" r:id="rId11"/>
    <p:sldId id="282" r:id="rId12"/>
    <p:sldId id="265" r:id="rId13"/>
    <p:sldId id="266" r:id="rId14"/>
    <p:sldId id="267" r:id="rId15"/>
    <p:sldId id="289" r:id="rId16"/>
    <p:sldId id="285" r:id="rId17"/>
    <p:sldId id="286" r:id="rId18"/>
    <p:sldId id="287" r:id="rId19"/>
  </p:sldIdLst>
  <p:sldSz cx="18288000" cy="10287000"/>
  <p:notesSz cx="6858000" cy="9144000"/>
  <p:embeddedFontLst>
    <p:embeddedFont>
      <p:font typeface="Aileron" panose="020B0604020202020204" charset="0"/>
      <p:regular r:id="rId21"/>
    </p:embeddedFont>
    <p:embeddedFont>
      <p:font typeface="Aileron Bold" panose="020B0604020202020204" charset="0"/>
      <p:regular r:id="rId22"/>
    </p:embeddedFont>
    <p:embeddedFont>
      <p:font typeface="Aileron Heavy" panose="020B0604020202020204" charset="0"/>
      <p:regular r:id="rId23"/>
    </p:embeddedFont>
    <p:embeddedFont>
      <p:font typeface="Aileron Ultra-Bold" panose="020B0604020202020204" charset="0"/>
      <p:regular r:id="rId24"/>
    </p:embeddedFont>
    <p:embeddedFont>
      <p:font typeface="Anton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Prompt" panose="020B0604020202020204" charset="-34"/>
      <p:regular r:id="rId27"/>
      <p:bold r:id="rId28"/>
      <p:italic r:id="rId29"/>
      <p:boldItalic r:id="rId30"/>
    </p:embeddedFont>
    <p:embeddedFont>
      <p:font typeface="Prompt Bold" panose="020B0604020202020204" charset="-34"/>
      <p:regular r:id="rId31"/>
      <p:bold r:id="rId32"/>
    </p:embeddedFont>
    <p:embeddedFont>
      <p:font typeface="Prompt Semi-Bold" panose="020B0604020202020204" charset="-3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F5FF"/>
    <a:srgbClr val="FDD89D"/>
    <a:srgbClr val="FFE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DE794-32C8-ABC9-DD8A-67D7B076D1FA}" v="19" dt="2025-12-22T11:45:46.595"/>
    <p1510:client id="{8493541C-2692-4B51-6448-61B99EF87F53}" v="852" dt="2025-12-22T14:32:35.667"/>
    <p1510:client id="{9C048A65-C5B1-D782-CBE2-DE2531B34769}" v="250" dt="2025-12-22T12:36:37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microsoft.com/office/2015/10/relationships/revisionInfo" Target="revisionInfo.xml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NBUYAN Lkhangaa" userId="S::24m1num0271@stud.num.edu.mn::7054c657-e263-48c5-897b-3130049f1efe" providerId="AD" clId="Web-{6A8DE794-32C8-ABC9-DD8A-67D7B076D1FA}"/>
    <pc:docChg chg="modSld">
      <pc:chgData name="SAINBUYAN Lkhangaa" userId="S::24m1num0271@stud.num.edu.mn::7054c657-e263-48c5-897b-3130049f1efe" providerId="AD" clId="Web-{6A8DE794-32C8-ABC9-DD8A-67D7B076D1FA}" dt="2025-12-22T11:45:46.595" v="17" actId="14100"/>
      <pc:docMkLst>
        <pc:docMk/>
      </pc:docMkLst>
      <pc:sldChg chg="addSp modSp">
        <pc:chgData name="SAINBUYAN Lkhangaa" userId="S::24m1num0271@stud.num.edu.mn::7054c657-e263-48c5-897b-3130049f1efe" providerId="AD" clId="Web-{6A8DE794-32C8-ABC9-DD8A-67D7B076D1FA}" dt="2025-12-22T11:45:22.126" v="11" actId="14100"/>
        <pc:sldMkLst>
          <pc:docMk/>
          <pc:sldMk cId="0" sldId="266"/>
        </pc:sldMkLst>
        <pc:spChg chg="add mod">
          <ac:chgData name="SAINBUYAN Lkhangaa" userId="S::24m1num0271@stud.num.edu.mn::7054c657-e263-48c5-897b-3130049f1efe" providerId="AD" clId="Web-{6A8DE794-32C8-ABC9-DD8A-67D7B076D1FA}" dt="2025-12-22T11:45:22.126" v="11" actId="14100"/>
          <ac:spMkLst>
            <pc:docMk/>
            <pc:sldMk cId="0" sldId="266"/>
            <ac:spMk id="6" creationId="{D2490049-C6AD-4F44-D6BC-4EBDE36B099C}"/>
          </ac:spMkLst>
        </pc:spChg>
      </pc:sldChg>
      <pc:sldChg chg="addSp modSp">
        <pc:chgData name="SAINBUYAN Lkhangaa" userId="S::24m1num0271@stud.num.edu.mn::7054c657-e263-48c5-897b-3130049f1efe" providerId="AD" clId="Web-{6A8DE794-32C8-ABC9-DD8A-67D7B076D1FA}" dt="2025-12-22T11:45:46.595" v="17" actId="14100"/>
        <pc:sldMkLst>
          <pc:docMk/>
          <pc:sldMk cId="0" sldId="267"/>
        </pc:sldMkLst>
        <pc:spChg chg="add mod">
          <ac:chgData name="SAINBUYAN Lkhangaa" userId="S::24m1num0271@stud.num.edu.mn::7054c657-e263-48c5-897b-3130049f1efe" providerId="AD" clId="Web-{6A8DE794-32C8-ABC9-DD8A-67D7B076D1FA}" dt="2025-12-22T11:45:46.595" v="17" actId="14100"/>
          <ac:spMkLst>
            <pc:docMk/>
            <pc:sldMk cId="0" sldId="267"/>
            <ac:spMk id="6" creationId="{49F622CD-3135-758C-8681-8EC909D50507}"/>
          </ac:spMkLst>
        </pc:spChg>
      </pc:sldChg>
      <pc:sldChg chg="addSp modSp">
        <pc:chgData name="SAINBUYAN Lkhangaa" userId="S::24m1num0271@stud.num.edu.mn::7054c657-e263-48c5-897b-3130049f1efe" providerId="AD" clId="Web-{6A8DE794-32C8-ABC9-DD8A-67D7B076D1FA}" dt="2025-12-22T11:45:41.314" v="13" actId="20577"/>
        <pc:sldMkLst>
          <pc:docMk/>
          <pc:sldMk cId="3571698391" sldId="289"/>
        </pc:sldMkLst>
        <pc:spChg chg="add mod">
          <ac:chgData name="SAINBUYAN Lkhangaa" userId="S::24m1num0271@stud.num.edu.mn::7054c657-e263-48c5-897b-3130049f1efe" providerId="AD" clId="Web-{6A8DE794-32C8-ABC9-DD8A-67D7B076D1FA}" dt="2025-12-22T11:45:41.314" v="13" actId="20577"/>
          <ac:spMkLst>
            <pc:docMk/>
            <pc:sldMk cId="3571698391" sldId="289"/>
            <ac:spMk id="5" creationId="{020300C1-DA5B-B5BB-CB91-B2E6019CE75F}"/>
          </ac:spMkLst>
        </pc:spChg>
      </pc:sldChg>
    </pc:docChg>
  </pc:docChgLst>
  <pc:docChgLst>
    <pc:chgData name="SAINBUYAN Lkhangaa" userId="S::24m1num0271@stud.num.edu.mn::7054c657-e263-48c5-897b-3130049f1efe" providerId="AD" clId="Web-{8493541C-2692-4B51-6448-61B99EF87F53}"/>
    <pc:docChg chg="addSld delSld modSld sldOrd">
      <pc:chgData name="SAINBUYAN Lkhangaa" userId="S::24m1num0271@stud.num.edu.mn::7054c657-e263-48c5-897b-3130049f1efe" providerId="AD" clId="Web-{8493541C-2692-4B51-6448-61B99EF87F53}" dt="2025-12-22T14:33:50.534" v="704"/>
      <pc:docMkLst>
        <pc:docMk/>
      </pc:docMkLst>
      <pc:sldChg chg="modSp">
        <pc:chgData name="SAINBUYAN Lkhangaa" userId="S::24m1num0271@stud.num.edu.mn::7054c657-e263-48c5-897b-3130049f1efe" providerId="AD" clId="Web-{8493541C-2692-4B51-6448-61B99EF87F53}" dt="2025-12-22T14:02:40.681" v="396" actId="1076"/>
        <pc:sldMkLst>
          <pc:docMk/>
          <pc:sldMk cId="0" sldId="262"/>
        </pc:sldMkLst>
        <pc:spChg chg="mod">
          <ac:chgData name="SAINBUYAN Lkhangaa" userId="S::24m1num0271@stud.num.edu.mn::7054c657-e263-48c5-897b-3130049f1efe" providerId="AD" clId="Web-{8493541C-2692-4B51-6448-61B99EF87F53}" dt="2025-12-22T14:02:40.681" v="396" actId="1076"/>
          <ac:spMkLst>
            <pc:docMk/>
            <pc:sldMk cId="0" sldId="262"/>
            <ac:spMk id="5" creationId="{00000000-0000-0000-0000-000000000000}"/>
          </ac:spMkLst>
        </pc:spChg>
      </pc:sldChg>
      <pc:sldChg chg="addSp delSp modSp">
        <pc:chgData name="SAINBUYAN Lkhangaa" userId="S::24m1num0271@stud.num.edu.mn::7054c657-e263-48c5-897b-3130049f1efe" providerId="AD" clId="Web-{8493541C-2692-4B51-6448-61B99EF87F53}" dt="2025-12-22T14:32:35.667" v="697"/>
        <pc:sldMkLst>
          <pc:docMk/>
          <pc:sldMk cId="0" sldId="264"/>
        </pc:sldMkLst>
        <pc:spChg chg="mod">
          <ac:chgData name="SAINBUYAN Lkhangaa" userId="S::24m1num0271@stud.num.edu.mn::7054c657-e263-48c5-897b-3130049f1efe" providerId="AD" clId="Web-{8493541C-2692-4B51-6448-61B99EF87F53}" dt="2025-12-22T13:49:21.380" v="143" actId="20577"/>
          <ac:spMkLst>
            <pc:docMk/>
            <pc:sldMk cId="0" sldId="264"/>
            <ac:spMk id="4" creationId="{00000000-0000-0000-0000-000000000000}"/>
          </ac:spMkLst>
        </pc:spChg>
        <pc:graphicFrameChg chg="add del mod modGraphic">
          <ac:chgData name="SAINBUYAN Lkhangaa" userId="S::24m1num0271@stud.num.edu.mn::7054c657-e263-48c5-897b-3130049f1efe" providerId="AD" clId="Web-{8493541C-2692-4B51-6448-61B99EF87F53}" dt="2025-12-22T14:31:48.352" v="599"/>
          <ac:graphicFrameMkLst>
            <pc:docMk/>
            <pc:sldMk cId="0" sldId="264"/>
            <ac:graphicFrameMk id="7" creationId="{1B08FF37-193D-4F01-A64E-4DBE49E31567}"/>
          </ac:graphicFrameMkLst>
        </pc:graphicFrameChg>
        <pc:graphicFrameChg chg="add mod modGraphic">
          <ac:chgData name="SAINBUYAN Lkhangaa" userId="S::24m1num0271@stud.num.edu.mn::7054c657-e263-48c5-897b-3130049f1efe" providerId="AD" clId="Web-{8493541C-2692-4B51-6448-61B99EF87F53}" dt="2025-12-22T14:32:35.667" v="697"/>
          <ac:graphicFrameMkLst>
            <pc:docMk/>
            <pc:sldMk cId="0" sldId="264"/>
            <ac:graphicFrameMk id="9" creationId="{8C156600-4084-0D87-EE61-A39CCFF27F48}"/>
          </ac:graphicFrameMkLst>
        </pc:graphicFrameChg>
      </pc:sldChg>
      <pc:sldChg chg="addSp delSp modSp">
        <pc:chgData name="SAINBUYAN Lkhangaa" userId="S::24m1num0271@stud.num.edu.mn::7054c657-e263-48c5-897b-3130049f1efe" providerId="AD" clId="Web-{8493541C-2692-4B51-6448-61B99EF87F53}" dt="2025-12-22T14:02:05.117" v="392"/>
        <pc:sldMkLst>
          <pc:docMk/>
          <pc:sldMk cId="0" sldId="265"/>
        </pc:sldMkLst>
        <pc:spChg chg="add del mod">
          <ac:chgData name="SAINBUYAN Lkhangaa" userId="S::24m1num0271@stud.num.edu.mn::7054c657-e263-48c5-897b-3130049f1efe" providerId="AD" clId="Web-{8493541C-2692-4B51-6448-61B99EF87F53}" dt="2025-12-22T14:02:05.117" v="392"/>
          <ac:spMkLst>
            <pc:docMk/>
            <pc:sldMk cId="0" sldId="265"/>
            <ac:spMk id="6" creationId="{31BA9C4D-E43D-DD15-2246-7AC08DA253DB}"/>
          </ac:spMkLst>
        </pc:spChg>
        <pc:graphicFrameChg chg="mod modGraphic">
          <ac:chgData name="SAINBUYAN Lkhangaa" userId="S::24m1num0271@stud.num.edu.mn::7054c657-e263-48c5-897b-3130049f1efe" providerId="AD" clId="Web-{8493541C-2692-4B51-6448-61B99EF87F53}" dt="2025-12-22T13:28:51.546" v="16"/>
          <ac:graphicFrameMkLst>
            <pc:docMk/>
            <pc:sldMk cId="0" sldId="265"/>
            <ac:graphicFrameMk id="10" creationId="{E547E86E-F4F7-4062-B394-C31F9D1FF83C}"/>
          </ac:graphicFrameMkLst>
        </pc:graphicFrameChg>
      </pc:sldChg>
      <pc:sldChg chg="addSp delSp modSp">
        <pc:chgData name="SAINBUYAN Lkhangaa" userId="S::24m1num0271@stud.num.edu.mn::7054c657-e263-48c5-897b-3130049f1efe" providerId="AD" clId="Web-{8493541C-2692-4B51-6448-61B99EF87F53}" dt="2025-12-22T14:21:32.133" v="440" actId="1076"/>
        <pc:sldMkLst>
          <pc:docMk/>
          <pc:sldMk cId="0" sldId="266"/>
        </pc:sldMkLst>
        <pc:spChg chg="del">
          <ac:chgData name="SAINBUYAN Lkhangaa" userId="S::24m1num0271@stud.num.edu.mn::7054c657-e263-48c5-897b-3130049f1efe" providerId="AD" clId="Web-{8493541C-2692-4B51-6448-61B99EF87F53}" dt="2025-12-22T14:02:28.321" v="395"/>
          <ac:spMkLst>
            <pc:docMk/>
            <pc:sldMk cId="0" sldId="266"/>
            <ac:spMk id="6" creationId="{D2490049-C6AD-4F44-D6BC-4EBDE36B099C}"/>
          </ac:spMkLst>
        </pc:spChg>
        <pc:picChg chg="add mod">
          <ac:chgData name="SAINBUYAN Lkhangaa" userId="S::24m1num0271@stud.num.edu.mn::7054c657-e263-48c5-897b-3130049f1efe" providerId="AD" clId="Web-{8493541C-2692-4B51-6448-61B99EF87F53}" dt="2025-12-22T14:18:57.188" v="432" actId="1076"/>
          <ac:picMkLst>
            <pc:docMk/>
            <pc:sldMk cId="0" sldId="266"/>
            <ac:picMk id="7" creationId="{3B2AB8AF-521C-5EEB-BEA9-25F80921B26B}"/>
          </ac:picMkLst>
        </pc:picChg>
        <pc:picChg chg="add mod">
          <ac:chgData name="SAINBUYAN Lkhangaa" userId="S::24m1num0271@stud.num.edu.mn::7054c657-e263-48c5-897b-3130049f1efe" providerId="AD" clId="Web-{8493541C-2692-4B51-6448-61B99EF87F53}" dt="2025-12-22T14:21:28.633" v="439" actId="1076"/>
          <ac:picMkLst>
            <pc:docMk/>
            <pc:sldMk cId="0" sldId="266"/>
            <ac:picMk id="8" creationId="{1DFCD648-2DB2-FF9D-6DDF-807E25953E32}"/>
          </ac:picMkLst>
        </pc:picChg>
        <pc:picChg chg="add mod">
          <ac:chgData name="SAINBUYAN Lkhangaa" userId="S::24m1num0271@stud.num.edu.mn::7054c657-e263-48c5-897b-3130049f1efe" providerId="AD" clId="Web-{8493541C-2692-4B51-6448-61B99EF87F53}" dt="2025-12-22T14:21:32.133" v="440" actId="1076"/>
          <ac:picMkLst>
            <pc:docMk/>
            <pc:sldMk cId="0" sldId="266"/>
            <ac:picMk id="9" creationId="{9FAFB1B6-5656-9926-E154-93F9E9C75539}"/>
          </ac:picMkLst>
        </pc:picChg>
      </pc:sldChg>
      <pc:sldChg chg="addSp delSp modSp">
        <pc:chgData name="SAINBUYAN Lkhangaa" userId="S::24m1num0271@stud.num.edu.mn::7054c657-e263-48c5-897b-3130049f1efe" providerId="AD" clId="Web-{8493541C-2692-4B51-6448-61B99EF87F53}" dt="2025-12-22T14:16:15.534" v="416" actId="20577"/>
        <pc:sldMkLst>
          <pc:docMk/>
          <pc:sldMk cId="0" sldId="267"/>
        </pc:sldMkLst>
        <pc:spChg chg="mod">
          <ac:chgData name="SAINBUYAN Lkhangaa" userId="S::24m1num0271@stud.num.edu.mn::7054c657-e263-48c5-897b-3130049f1efe" providerId="AD" clId="Web-{8493541C-2692-4B51-6448-61B99EF87F53}" dt="2025-12-22T14:16:15.534" v="416" actId="205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SAINBUYAN Lkhangaa" userId="S::24m1num0271@stud.num.edu.mn::7054c657-e263-48c5-897b-3130049f1efe" providerId="AD" clId="Web-{8493541C-2692-4B51-6448-61B99EF87F53}" dt="2025-12-22T14:14:04.119" v="397"/>
          <ac:spMkLst>
            <pc:docMk/>
            <pc:sldMk cId="0" sldId="267"/>
            <ac:spMk id="6" creationId="{49F622CD-3135-758C-8681-8EC909D50507}"/>
          </ac:spMkLst>
        </pc:spChg>
        <pc:picChg chg="add mod">
          <ac:chgData name="SAINBUYAN Lkhangaa" userId="S::24m1num0271@stud.num.edu.mn::7054c657-e263-48c5-897b-3130049f1efe" providerId="AD" clId="Web-{8493541C-2692-4B51-6448-61B99EF87F53}" dt="2025-12-22T14:15:12.558" v="409" actId="14100"/>
          <ac:picMkLst>
            <pc:docMk/>
            <pc:sldMk cId="0" sldId="267"/>
            <ac:picMk id="7" creationId="{6BD82455-5A0C-00CD-2D48-C51E1A4A9120}"/>
          </ac:picMkLst>
        </pc:picChg>
        <pc:picChg chg="add mod">
          <ac:chgData name="SAINBUYAN Lkhangaa" userId="S::24m1num0271@stud.num.edu.mn::7054c657-e263-48c5-897b-3130049f1efe" providerId="AD" clId="Web-{8493541C-2692-4B51-6448-61B99EF87F53}" dt="2025-12-22T14:16:06.439" v="414" actId="14100"/>
          <ac:picMkLst>
            <pc:docMk/>
            <pc:sldMk cId="0" sldId="267"/>
            <ac:picMk id="8" creationId="{7E88E026-DF9A-9F68-3DBF-B4D83C2FA7B5}"/>
          </ac:picMkLst>
        </pc:picChg>
        <pc:picChg chg="add mod">
          <ac:chgData name="SAINBUYAN Lkhangaa" userId="S::24m1num0271@stud.num.edu.mn::7054c657-e263-48c5-897b-3130049f1efe" providerId="AD" clId="Web-{8493541C-2692-4B51-6448-61B99EF87F53}" dt="2025-12-22T14:16:01.923" v="413" actId="14100"/>
          <ac:picMkLst>
            <pc:docMk/>
            <pc:sldMk cId="0" sldId="267"/>
            <ac:picMk id="9" creationId="{15597895-87D8-157D-17CA-414C3E4E6E92}"/>
          </ac:picMkLst>
        </pc:picChg>
        <pc:picChg chg="add mod">
          <ac:chgData name="SAINBUYAN Lkhangaa" userId="S::24m1num0271@stud.num.edu.mn::7054c657-e263-48c5-897b-3130049f1efe" providerId="AD" clId="Web-{8493541C-2692-4B51-6448-61B99EF87F53}" dt="2025-12-22T14:15:08.151" v="407" actId="1076"/>
          <ac:picMkLst>
            <pc:docMk/>
            <pc:sldMk cId="0" sldId="267"/>
            <ac:picMk id="10" creationId="{4240D333-33A7-87B4-EC96-194B06A02212}"/>
          </ac:picMkLst>
        </pc:picChg>
      </pc:sldChg>
      <pc:sldChg chg="modSp modNotes">
        <pc:chgData name="SAINBUYAN Lkhangaa" userId="S::24m1num0271@stud.num.edu.mn::7054c657-e263-48c5-897b-3130049f1efe" providerId="AD" clId="Web-{8493541C-2692-4B51-6448-61B99EF87F53}" dt="2025-12-22T14:33:50.534" v="704"/>
        <pc:sldMkLst>
          <pc:docMk/>
          <pc:sldMk cId="0" sldId="285"/>
        </pc:sldMkLst>
        <pc:spChg chg="mod">
          <ac:chgData name="SAINBUYAN Lkhangaa" userId="S::24m1num0271@stud.num.edu.mn::7054c657-e263-48c5-897b-3130049f1efe" providerId="AD" clId="Web-{8493541C-2692-4B51-6448-61B99EF87F53}" dt="2025-12-22T14:28:02.629" v="531" actId="20577"/>
          <ac:spMkLst>
            <pc:docMk/>
            <pc:sldMk cId="0" sldId="285"/>
            <ac:spMk id="5" creationId="{00000000-0000-0000-0000-000000000000}"/>
          </ac:spMkLst>
        </pc:spChg>
      </pc:sldChg>
      <pc:sldChg chg="addSp delSp modSp ord">
        <pc:chgData name="SAINBUYAN Lkhangaa" userId="S::24m1num0271@stud.num.edu.mn::7054c657-e263-48c5-897b-3130049f1efe" providerId="AD" clId="Web-{8493541C-2692-4B51-6448-61B99EF87F53}" dt="2025-12-22T14:32:16.087" v="651"/>
        <pc:sldMkLst>
          <pc:docMk/>
          <pc:sldMk cId="2092699453" sldId="288"/>
        </pc:sldMkLst>
        <pc:spChg chg="mod">
          <ac:chgData name="SAINBUYAN Lkhangaa" userId="S::24m1num0271@stud.num.edu.mn::7054c657-e263-48c5-897b-3130049f1efe" providerId="AD" clId="Web-{8493541C-2692-4B51-6448-61B99EF87F53}" dt="2025-12-22T13:49:33.208" v="149" actId="20577"/>
          <ac:spMkLst>
            <pc:docMk/>
            <pc:sldMk cId="2092699453" sldId="288"/>
            <ac:spMk id="4" creationId="{00000000-0000-0000-0000-000000000000}"/>
          </ac:spMkLst>
        </pc:spChg>
        <pc:spChg chg="add mod">
          <ac:chgData name="SAINBUYAN Lkhangaa" userId="S::24m1num0271@stud.num.edu.mn::7054c657-e263-48c5-897b-3130049f1efe" providerId="AD" clId="Web-{8493541C-2692-4B51-6448-61B99EF87F53}" dt="2025-12-22T14:30:55.960" v="598"/>
          <ac:spMkLst>
            <pc:docMk/>
            <pc:sldMk cId="2092699453" sldId="288"/>
            <ac:spMk id="7" creationId="{2CD21F60-ADCB-3668-0469-AD2DD2BE1CC4}"/>
          </ac:spMkLst>
        </pc:spChg>
        <pc:graphicFrameChg chg="del mod modGraphic">
          <ac:chgData name="SAINBUYAN Lkhangaa" userId="S::24m1num0271@stud.num.edu.mn::7054c657-e263-48c5-897b-3130049f1efe" providerId="AD" clId="Web-{8493541C-2692-4B51-6448-61B99EF87F53}" dt="2025-12-22T13:49:38.271" v="152"/>
          <ac:graphicFrameMkLst>
            <pc:docMk/>
            <pc:sldMk cId="2092699453" sldId="288"/>
            <ac:graphicFrameMk id="6" creationId="{1133C284-003E-0ED0-475C-6B1F2738483D}"/>
          </ac:graphicFrameMkLst>
        </pc:graphicFrameChg>
        <pc:graphicFrameChg chg="add del mod modGraphic">
          <ac:chgData name="SAINBUYAN Lkhangaa" userId="S::24m1num0271@stud.num.edu.mn::7054c657-e263-48c5-897b-3130049f1efe" providerId="AD" clId="Web-{8493541C-2692-4B51-6448-61B99EF87F53}" dt="2025-12-22T14:30:08.647" v="580"/>
          <ac:graphicFrameMkLst>
            <pc:docMk/>
            <pc:sldMk cId="2092699453" sldId="288"/>
            <ac:graphicFrameMk id="9" creationId="{E0FE9C55-DFAC-A613-A7EA-B02C22077D93}"/>
          </ac:graphicFrameMkLst>
        </pc:graphicFrameChg>
        <pc:graphicFrameChg chg="add del mod">
          <ac:chgData name="SAINBUYAN Lkhangaa" userId="S::24m1num0271@stud.num.edu.mn::7054c657-e263-48c5-897b-3130049f1efe" providerId="AD" clId="Web-{8493541C-2692-4B51-6448-61B99EF87F53}" dt="2025-12-22T14:29:51.975" v="578"/>
          <ac:graphicFrameMkLst>
            <pc:docMk/>
            <pc:sldMk cId="2092699453" sldId="288"/>
            <ac:graphicFrameMk id="11" creationId="{E098F768-761F-971E-5FA9-089A7AE32360}"/>
          </ac:graphicFrameMkLst>
        </pc:graphicFrameChg>
        <pc:graphicFrameChg chg="add mod modGraphic">
          <ac:chgData name="SAINBUYAN Lkhangaa" userId="S::24m1num0271@stud.num.edu.mn::7054c657-e263-48c5-897b-3130049f1efe" providerId="AD" clId="Web-{8493541C-2692-4B51-6448-61B99EF87F53}" dt="2025-12-22T14:32:16.087" v="651"/>
          <ac:graphicFrameMkLst>
            <pc:docMk/>
            <pc:sldMk cId="2092699453" sldId="288"/>
            <ac:graphicFrameMk id="13" creationId="{63945BB1-7FF1-C434-3445-AE39DCAE693B}"/>
          </ac:graphicFrameMkLst>
        </pc:graphicFrameChg>
      </pc:sldChg>
      <pc:sldChg chg="addSp modSp modNotes">
        <pc:chgData name="SAINBUYAN Lkhangaa" userId="S::24m1num0271@stud.num.edu.mn::7054c657-e263-48c5-897b-3130049f1efe" providerId="AD" clId="Web-{8493541C-2692-4B51-6448-61B99EF87F53}" dt="2025-12-22T14:33:32.173" v="701"/>
        <pc:sldMkLst>
          <pc:docMk/>
          <pc:sldMk cId="3571698391" sldId="289"/>
        </pc:sldMkLst>
        <pc:spChg chg="mod">
          <ac:chgData name="SAINBUYAN Lkhangaa" userId="S::24m1num0271@stud.num.edu.mn::7054c657-e263-48c5-897b-3130049f1efe" providerId="AD" clId="Web-{8493541C-2692-4B51-6448-61B99EF87F53}" dt="2025-12-22T14:24:51.015" v="474" actId="20577"/>
          <ac:spMkLst>
            <pc:docMk/>
            <pc:sldMk cId="3571698391" sldId="289"/>
            <ac:spMk id="5" creationId="{020300C1-DA5B-B5BB-CB91-B2E6019CE75F}"/>
          </ac:spMkLst>
        </pc:spChg>
        <pc:spChg chg="add mod">
          <ac:chgData name="SAINBUYAN Lkhangaa" userId="S::24m1num0271@stud.num.edu.mn::7054c657-e263-48c5-897b-3130049f1efe" providerId="AD" clId="Web-{8493541C-2692-4B51-6448-61B99EF87F53}" dt="2025-12-22T14:26:18.674" v="479" actId="20577"/>
          <ac:spMkLst>
            <pc:docMk/>
            <pc:sldMk cId="3571698391" sldId="289"/>
            <ac:spMk id="6" creationId="{E50C69EF-DC94-8AAB-4CA6-94B80D5B1CDB}"/>
          </ac:spMkLst>
        </pc:spChg>
      </pc:sldChg>
      <pc:sldChg chg="delSp add del replId">
        <pc:chgData name="SAINBUYAN Lkhangaa" userId="S::24m1num0271@stud.num.edu.mn::7054c657-e263-48c5-897b-3130049f1efe" providerId="AD" clId="Web-{8493541C-2692-4B51-6448-61B99EF87F53}" dt="2025-12-22T14:16:10.580" v="415"/>
        <pc:sldMkLst>
          <pc:docMk/>
          <pc:sldMk cId="1983391996" sldId="290"/>
        </pc:sldMkLst>
        <pc:spChg chg="del">
          <ac:chgData name="SAINBUYAN Lkhangaa" userId="S::24m1num0271@stud.num.edu.mn::7054c657-e263-48c5-897b-3130049f1efe" providerId="AD" clId="Web-{8493541C-2692-4B51-6448-61B99EF87F53}" dt="2025-12-22T14:02:18.071" v="394"/>
          <ac:spMkLst>
            <pc:docMk/>
            <pc:sldMk cId="1983391996" sldId="290"/>
            <ac:spMk id="6" creationId="{20328682-6AA9-F533-DCD8-4AE832AC2A14}"/>
          </ac:spMkLst>
        </pc:spChg>
      </pc:sldChg>
    </pc:docChg>
  </pc:docChgLst>
  <pc:docChgLst>
    <pc:chgData name="ALTANGEREL Nergui" userId="S::23m1num0360@stud.num.edu.mn::d1d16921-8c22-41a9-a5d9-18316e2c49f9" providerId="AD" clId="Web-{9C048A65-C5B1-D782-CBE2-DE2531B34769}"/>
    <pc:docChg chg="modSld">
      <pc:chgData name="ALTANGEREL Nergui" userId="S::23m1num0360@stud.num.edu.mn::d1d16921-8c22-41a9-a5d9-18316e2c49f9" providerId="AD" clId="Web-{9C048A65-C5B1-D782-CBE2-DE2531B34769}" dt="2025-12-22T12:36:37.065" v="209"/>
      <pc:docMkLst>
        <pc:docMk/>
      </pc:docMkLst>
      <pc:sldChg chg="addSp modSp">
        <pc:chgData name="ALTANGEREL Nergui" userId="S::23m1num0360@stud.num.edu.mn::d1d16921-8c22-41a9-a5d9-18316e2c49f9" providerId="AD" clId="Web-{9C048A65-C5B1-D782-CBE2-DE2531B34769}" dt="2025-12-22T12:36:37.065" v="209"/>
        <pc:sldMkLst>
          <pc:docMk/>
          <pc:sldMk cId="2092699453" sldId="288"/>
        </pc:sldMkLst>
        <pc:graphicFrameChg chg="add mod modGraphic">
          <ac:chgData name="ALTANGEREL Nergui" userId="S::23m1num0360@stud.num.edu.mn::d1d16921-8c22-41a9-a5d9-18316e2c49f9" providerId="AD" clId="Web-{9C048A65-C5B1-D782-CBE2-DE2531B34769}" dt="2025-12-22T12:36:37.065" v="209"/>
          <ac:graphicFrameMkLst>
            <pc:docMk/>
            <pc:sldMk cId="2092699453" sldId="288"/>
            <ac:graphicFrameMk id="6" creationId="{1133C284-003E-0ED0-475C-6B1F2738483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9DB66-18C8-4236-A27E-86FDAC67A5FE}" type="datetimeFigureOut">
              <a:t>12/22/2025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CCF70-B13B-4106-B154-14395DC8811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92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Open Issues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Heterogeneous data formats:</a:t>
            </a:r>
            <a:r>
              <a:rPr lang="en-US"/>
              <a:t> Wikipedia </a:t>
            </a:r>
            <a:r>
              <a:rPr lang="en-US" err="1"/>
              <a:t>ба</a:t>
            </a:r>
            <a:r>
              <a:rPr lang="en-US"/>
              <a:t> Kinosan.mn </a:t>
            </a:r>
            <a:r>
              <a:rPr lang="en-US" err="1"/>
              <a:t>нь</a:t>
            </a:r>
            <a:r>
              <a:rPr lang="en-US"/>
              <a:t> </a:t>
            </a:r>
            <a:r>
              <a:rPr lang="en-US" err="1"/>
              <a:t>бүтэц</a:t>
            </a:r>
            <a:r>
              <a:rPr lang="en-US"/>
              <a:t>, </a:t>
            </a:r>
            <a:r>
              <a:rPr lang="en-US" err="1"/>
              <a:t>шошгололт</a:t>
            </a:r>
            <a:r>
              <a:rPr lang="en-US"/>
              <a:t> </a:t>
            </a:r>
            <a:r>
              <a:rPr lang="en-US" err="1"/>
              <a:t>ялгаатай</a:t>
            </a:r>
            <a:r>
              <a:rPr lang="en-US"/>
              <a:t> </a:t>
            </a:r>
            <a:r>
              <a:rPr lang="en-US" err="1"/>
              <a:t>тул</a:t>
            </a:r>
            <a:r>
              <a:rPr lang="en-US"/>
              <a:t> extensive data cleaning </a:t>
            </a:r>
            <a:r>
              <a:rPr lang="en-US" err="1"/>
              <a:t>шаардсан</a:t>
            </a:r>
            <a:r>
              <a:rPr lang="en-US"/>
              <a:t>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b="1"/>
              <a:t>Incomplete data:</a:t>
            </a:r>
            <a:r>
              <a:rPr lang="en-US"/>
              <a:t> </a:t>
            </a:r>
            <a:r>
              <a:rPr lang="en-US" err="1"/>
              <a:t>Олон</a:t>
            </a:r>
            <a:r>
              <a:rPr lang="en-US"/>
              <a:t> </a:t>
            </a:r>
            <a:r>
              <a:rPr lang="en-US" err="1"/>
              <a:t>Монгол</a:t>
            </a:r>
            <a:r>
              <a:rPr lang="en-US"/>
              <a:t> </a:t>
            </a:r>
            <a:r>
              <a:rPr lang="en-US" err="1"/>
              <a:t>кинонд</a:t>
            </a:r>
            <a:r>
              <a:rPr lang="en-US"/>
              <a:t> </a:t>
            </a:r>
            <a:r>
              <a:rPr lang="en-US" err="1"/>
              <a:t>үнэлгээ</a:t>
            </a:r>
            <a:r>
              <a:rPr lang="en-US"/>
              <a:t>, review count, </a:t>
            </a:r>
            <a:r>
              <a:rPr lang="en-US" err="1"/>
              <a:t>шагналын</a:t>
            </a:r>
            <a:r>
              <a:rPr lang="en-US"/>
              <a:t> </a:t>
            </a:r>
            <a:r>
              <a:rPr lang="en-US" err="1"/>
              <a:t>мэдээлэл</a:t>
            </a:r>
            <a:r>
              <a:rPr lang="en-US"/>
              <a:t> </a:t>
            </a:r>
            <a:r>
              <a:rPr lang="en-US" err="1"/>
              <a:t>дутуу</a:t>
            </a:r>
            <a:r>
              <a:rPr lang="en-US"/>
              <a:t>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b="1"/>
              <a:t>Name inconsistency:</a:t>
            </a:r>
            <a:r>
              <a:rPr lang="en-US"/>
              <a:t> </a:t>
            </a:r>
            <a:r>
              <a:rPr lang="en-US" err="1"/>
              <a:t>Найруулагч</a:t>
            </a:r>
            <a:r>
              <a:rPr lang="en-US"/>
              <a:t>, </a:t>
            </a:r>
            <a:r>
              <a:rPr lang="en-US" err="1"/>
              <a:t>жүжигчдийн</a:t>
            </a:r>
            <a:r>
              <a:rPr lang="en-US"/>
              <a:t> </a:t>
            </a:r>
            <a:r>
              <a:rPr lang="en-US" err="1"/>
              <a:t>нэрсэд</a:t>
            </a:r>
            <a:r>
              <a:rPr lang="en-US"/>
              <a:t> </a:t>
            </a:r>
            <a:r>
              <a:rPr lang="en-US" err="1"/>
              <a:t>стандарт</a:t>
            </a:r>
            <a:r>
              <a:rPr lang="en-US"/>
              <a:t> </a:t>
            </a:r>
            <a:r>
              <a:rPr lang="en-US" err="1"/>
              <a:t>транслитераци</a:t>
            </a:r>
            <a:r>
              <a:rPr lang="en-US"/>
              <a:t>, </a:t>
            </a:r>
            <a:r>
              <a:rPr lang="en-US" err="1"/>
              <a:t>бичлэгийн</a:t>
            </a:r>
            <a:r>
              <a:rPr lang="en-US"/>
              <a:t> </a:t>
            </a:r>
            <a:r>
              <a:rPr lang="en-US" err="1"/>
              <a:t>нэгдсэн</a:t>
            </a:r>
            <a:r>
              <a:rPr lang="en-US"/>
              <a:t> </a:t>
            </a:r>
            <a:r>
              <a:rPr lang="en-US" err="1"/>
              <a:t>дүрэм</a:t>
            </a:r>
            <a:r>
              <a:rPr lang="en-US"/>
              <a:t> </a:t>
            </a:r>
            <a:r>
              <a:rPr lang="en-US" err="1"/>
              <a:t>байхгүй</a:t>
            </a:r>
            <a:r>
              <a:rPr lang="en-US"/>
              <a:t>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b="1"/>
              <a:t>Limited coverage:</a:t>
            </a:r>
            <a:r>
              <a:rPr lang="en-US"/>
              <a:t> </a:t>
            </a:r>
            <a:r>
              <a:rPr lang="en-US" err="1"/>
              <a:t>Хуучин</a:t>
            </a:r>
            <a:r>
              <a:rPr lang="en-US"/>
              <a:t> </a:t>
            </a:r>
            <a:r>
              <a:rPr lang="en-US" err="1"/>
              <a:t>болон</a:t>
            </a:r>
            <a:r>
              <a:rPr lang="en-US"/>
              <a:t> </a:t>
            </a:r>
            <a:r>
              <a:rPr lang="en-US" err="1"/>
              <a:t>бага</a:t>
            </a:r>
            <a:r>
              <a:rPr lang="en-US"/>
              <a:t> </a:t>
            </a:r>
            <a:r>
              <a:rPr lang="en-US" err="1"/>
              <a:t>танигдсан</a:t>
            </a:r>
            <a:r>
              <a:rPr lang="en-US"/>
              <a:t> </a:t>
            </a:r>
            <a:r>
              <a:rPr lang="en-US" err="1"/>
              <a:t>кинонууд</a:t>
            </a:r>
            <a:r>
              <a:rPr lang="en-US"/>
              <a:t> </a:t>
            </a:r>
            <a:r>
              <a:rPr lang="en-US" err="1"/>
              <a:t>бүрэн</a:t>
            </a:r>
            <a:r>
              <a:rPr lang="en-US"/>
              <a:t> </a:t>
            </a:r>
            <a:r>
              <a:rPr lang="en-US" err="1"/>
              <a:t>хамрагдаагүй</a:t>
            </a:r>
            <a:r>
              <a:rPr lang="en-US"/>
              <a:t>.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CCF70-B13B-4106-B154-14395DC88111}" type="slidenum"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266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Future Work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err="1"/>
              <a:t>Нэмэлт</a:t>
            </a:r>
            <a:r>
              <a:rPr lang="en-US"/>
              <a:t> </a:t>
            </a:r>
            <a:r>
              <a:rPr lang="en-US" err="1"/>
              <a:t>өгөгдлийн</a:t>
            </a:r>
            <a:r>
              <a:rPr lang="en-US"/>
              <a:t> </a:t>
            </a:r>
            <a:r>
              <a:rPr lang="en-US" err="1"/>
              <a:t>эх</a:t>
            </a:r>
            <a:r>
              <a:rPr lang="en-US"/>
              <a:t> </a:t>
            </a:r>
            <a:r>
              <a:rPr lang="en-US" err="1"/>
              <a:t>сурвалжуудыг</a:t>
            </a:r>
            <a:r>
              <a:rPr lang="en-US"/>
              <a:t> </a:t>
            </a:r>
            <a:r>
              <a:rPr lang="en-US" err="1"/>
              <a:t>холбох</a:t>
            </a:r>
            <a:r>
              <a:rPr lang="en-US"/>
              <a:t> (archives, awards, reviews).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Нэр</a:t>
            </a:r>
            <a:r>
              <a:rPr lang="en-US"/>
              <a:t> </a:t>
            </a:r>
            <a:r>
              <a:rPr lang="en-US" err="1"/>
              <a:t>нормчлох</a:t>
            </a:r>
            <a:r>
              <a:rPr lang="en-US"/>
              <a:t>, </a:t>
            </a:r>
            <a:r>
              <a:rPr lang="en-US" err="1"/>
              <a:t>транслитерацийг</a:t>
            </a:r>
            <a:r>
              <a:rPr lang="en-US"/>
              <a:t> </a:t>
            </a:r>
            <a:r>
              <a:rPr lang="en-US" err="1"/>
              <a:t>сайжруулах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Ontology-г </a:t>
            </a:r>
            <a:r>
              <a:rPr lang="en-US" err="1"/>
              <a:t>өргөтгөж</a:t>
            </a:r>
            <a:r>
              <a:rPr lang="en-US"/>
              <a:t> </a:t>
            </a:r>
            <a:r>
              <a:rPr lang="en-US" err="1"/>
              <a:t>олон</a:t>
            </a:r>
            <a:r>
              <a:rPr lang="en-US"/>
              <a:t> </a:t>
            </a:r>
            <a:r>
              <a:rPr lang="en-US" err="1"/>
              <a:t>найруулагч</a:t>
            </a:r>
            <a:r>
              <a:rPr lang="en-US"/>
              <a:t>, </a:t>
            </a:r>
            <a:r>
              <a:rPr lang="en-US" err="1"/>
              <a:t>нарийвчилсан</a:t>
            </a:r>
            <a:r>
              <a:rPr lang="en-US"/>
              <a:t> </a:t>
            </a:r>
            <a:r>
              <a:rPr lang="en-US" err="1"/>
              <a:t>харилцааг</a:t>
            </a:r>
            <a:r>
              <a:rPr lang="en-US"/>
              <a:t> </a:t>
            </a:r>
            <a:r>
              <a:rPr lang="en-US" err="1"/>
              <a:t>дэмжих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Кино</a:t>
            </a:r>
            <a:r>
              <a:rPr lang="en-US"/>
              <a:t>, </a:t>
            </a:r>
            <a:r>
              <a:rPr lang="en-US" err="1"/>
              <a:t>уран</a:t>
            </a:r>
            <a:r>
              <a:rPr lang="en-US"/>
              <a:t> </a:t>
            </a:r>
            <a:r>
              <a:rPr lang="en-US" err="1"/>
              <a:t>бүтээлч</a:t>
            </a:r>
            <a:r>
              <a:rPr lang="en-US"/>
              <a:t>, </a:t>
            </a:r>
            <a:r>
              <a:rPr lang="en-US" err="1"/>
              <a:t>студи</a:t>
            </a:r>
            <a:r>
              <a:rPr lang="en-US"/>
              <a:t> </a:t>
            </a:r>
            <a:r>
              <a:rPr lang="en-US" err="1"/>
              <a:t>хоорондын</a:t>
            </a:r>
            <a:r>
              <a:rPr lang="en-US"/>
              <a:t> </a:t>
            </a:r>
            <a:r>
              <a:rPr lang="en-US" err="1"/>
              <a:t>холбоог</a:t>
            </a:r>
            <a:r>
              <a:rPr lang="en-US"/>
              <a:t> </a:t>
            </a:r>
            <a:r>
              <a:rPr lang="en-US" err="1"/>
              <a:t>судлах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Genre, </a:t>
            </a:r>
            <a:r>
              <a:rPr lang="en-US" err="1"/>
              <a:t>шагнал</a:t>
            </a:r>
            <a:r>
              <a:rPr lang="en-US"/>
              <a:t>, </a:t>
            </a:r>
            <a:r>
              <a:rPr lang="en-US" err="1"/>
              <a:t>түүхэн</a:t>
            </a:r>
            <a:r>
              <a:rPr lang="en-US"/>
              <a:t> </a:t>
            </a:r>
            <a:r>
              <a:rPr lang="en-US" err="1"/>
              <a:t>хөгжлийн</a:t>
            </a:r>
            <a:r>
              <a:rPr lang="en-US"/>
              <a:t> </a:t>
            </a:r>
            <a:r>
              <a:rPr lang="en-US" err="1"/>
              <a:t>аналитик</a:t>
            </a:r>
            <a:r>
              <a:rPr lang="en-US"/>
              <a:t> </a:t>
            </a:r>
            <a:r>
              <a:rPr lang="en-US" err="1"/>
              <a:t>хийх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Нэг</a:t>
            </a:r>
            <a:r>
              <a:rPr lang="en-US"/>
              <a:t> </a:t>
            </a:r>
            <a:r>
              <a:rPr lang="en-US" err="1"/>
              <a:t>асуултаар</a:t>
            </a:r>
            <a:r>
              <a:rPr lang="en-US"/>
              <a:t> </a:t>
            </a:r>
            <a:r>
              <a:rPr lang="en-US" err="1"/>
              <a:t>киноны</a:t>
            </a:r>
            <a:r>
              <a:rPr lang="en-US"/>
              <a:t> </a:t>
            </a:r>
            <a:r>
              <a:rPr lang="en-US" err="1"/>
              <a:t>бүх</a:t>
            </a:r>
            <a:r>
              <a:rPr lang="en-US"/>
              <a:t> </a:t>
            </a:r>
            <a:r>
              <a:rPr lang="en-US" err="1"/>
              <a:t>үндсэн</a:t>
            </a:r>
            <a:r>
              <a:rPr lang="en-US"/>
              <a:t> </a:t>
            </a:r>
            <a:r>
              <a:rPr lang="en-US" err="1"/>
              <a:t>мэдээллийг</a:t>
            </a:r>
            <a:r>
              <a:rPr lang="en-US"/>
              <a:t> </a:t>
            </a:r>
            <a:r>
              <a:rPr lang="en-US" err="1"/>
              <a:t>авах</a:t>
            </a:r>
            <a:r>
              <a:rPr lang="en-US"/>
              <a:t> </a:t>
            </a:r>
            <a:r>
              <a:rPr lang="en-US" err="1"/>
              <a:t>боломж</a:t>
            </a:r>
            <a:r>
              <a:rPr lang="en-US"/>
              <a:t> </a:t>
            </a:r>
            <a:r>
              <a:rPr lang="en-US" err="1"/>
              <a:t>бүрдүүлэх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CCF70-B13B-4106-B154-14395DC88111}" type="slidenum"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20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hyperlink" Target="https://seas.num.edu.mn/dep/ics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0.svg"/><Relationship Id="rId5" Type="http://schemas.openxmlformats.org/officeDocument/2006/relationships/image" Target="../media/image16.sv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6.svg"/><Relationship Id="rId7" Type="http://schemas.openxmlformats.org/officeDocument/2006/relationships/image" Target="../media/image2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sv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sv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svg"/><Relationship Id="rId7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6623" y="7455340"/>
            <a:ext cx="5585797" cy="3512070"/>
          </a:xfrm>
          <a:custGeom>
            <a:avLst/>
            <a:gdLst/>
            <a:ahLst/>
            <a:cxnLst/>
            <a:rect l="l" t="t" r="r" b="b"/>
            <a:pathLst>
              <a:path w="5585797" h="3512070">
                <a:moveTo>
                  <a:pt x="0" y="0"/>
                </a:moveTo>
                <a:lnTo>
                  <a:pt x="5585797" y="0"/>
                </a:lnTo>
                <a:lnTo>
                  <a:pt x="5585797" y="3512070"/>
                </a:lnTo>
                <a:lnTo>
                  <a:pt x="0" y="3512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45571" y="1028700"/>
            <a:ext cx="5295180" cy="2955673"/>
          </a:xfrm>
          <a:custGeom>
            <a:avLst/>
            <a:gdLst/>
            <a:ahLst/>
            <a:cxnLst/>
            <a:rect l="l" t="t" r="r" b="b"/>
            <a:pathLst>
              <a:path w="5295180" h="2955673">
                <a:moveTo>
                  <a:pt x="0" y="0"/>
                </a:moveTo>
                <a:lnTo>
                  <a:pt x="5295180" y="0"/>
                </a:lnTo>
                <a:lnTo>
                  <a:pt x="5295180" y="2955673"/>
                </a:lnTo>
                <a:lnTo>
                  <a:pt x="0" y="2955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0798" y="-1370360"/>
            <a:ext cx="3689023" cy="3610632"/>
          </a:xfrm>
          <a:custGeom>
            <a:avLst/>
            <a:gdLst/>
            <a:ahLst/>
            <a:cxnLst/>
            <a:rect l="l" t="t" r="r" b="b"/>
            <a:pathLst>
              <a:path w="3689023" h="3610632">
                <a:moveTo>
                  <a:pt x="0" y="0"/>
                </a:moveTo>
                <a:lnTo>
                  <a:pt x="3689023" y="0"/>
                </a:lnTo>
                <a:lnTo>
                  <a:pt x="3689023" y="3610632"/>
                </a:lnTo>
                <a:lnTo>
                  <a:pt x="0" y="36106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3532413" y="3248400"/>
            <a:ext cx="7064827" cy="7236698"/>
          </a:xfrm>
          <a:custGeom>
            <a:avLst/>
            <a:gdLst/>
            <a:ahLst/>
            <a:cxnLst/>
            <a:rect l="l" t="t" r="r" b="b"/>
            <a:pathLst>
              <a:path w="7064827" h="7236698">
                <a:moveTo>
                  <a:pt x="7064826" y="0"/>
                </a:moveTo>
                <a:lnTo>
                  <a:pt x="0" y="0"/>
                </a:lnTo>
                <a:lnTo>
                  <a:pt x="0" y="7236698"/>
                </a:lnTo>
                <a:lnTo>
                  <a:pt x="7064826" y="7236698"/>
                </a:lnTo>
                <a:lnTo>
                  <a:pt x="7064826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25279" y="3542361"/>
            <a:ext cx="14311387" cy="219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Knowledge Graph of </a:t>
            </a:r>
          </a:p>
          <a:p>
            <a:pPr algn="ctr">
              <a:lnSpc>
                <a:spcPts val="8560"/>
              </a:lnSpc>
            </a:pPr>
            <a:r>
              <a:rPr lang="en-US" sz="8000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Mongolian Cinema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1377" y="7398190"/>
            <a:ext cx="8105246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-5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TEAM-1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2580" y="535636"/>
            <a:ext cx="810524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  <a:hlinkClick r:id="rId9" tooltip="https://seas.num.edu.mn/dep/ics"/>
              </a:rPr>
              <a:t>Department of Information and Computer Science</a:t>
            </a:r>
          </a:p>
          <a:p>
            <a:pPr algn="ctr">
              <a:lnSpc>
                <a:spcPts val="3359"/>
              </a:lnSpc>
            </a:pPr>
            <a:endParaRPr lang="en-US" sz="2400" spc="-36">
              <a:solidFill>
                <a:srgbClr val="008387"/>
              </a:solidFill>
              <a:latin typeface="Prompt"/>
              <a:ea typeface="Prompt"/>
              <a:cs typeface="Prompt"/>
              <a:sym typeface="Prompt"/>
              <a:hlinkClick r:id="rId9" tooltip="https://seas.num.edu.mn/dep/ics"/>
            </a:endParaRPr>
          </a:p>
          <a:p>
            <a:pPr algn="ctr">
              <a:lnSpc>
                <a:spcPts val="3359"/>
              </a:lnSpc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KGE 2025 – Project Report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184" y="8823043"/>
            <a:ext cx="8105246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© 2025 National University of Mongolia</a:t>
            </a:r>
          </a:p>
          <a:p>
            <a:pPr algn="ctr">
              <a:lnSpc>
                <a:spcPts val="3359"/>
              </a:lnSpc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Ulaanbaatar, Mongolia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55743" y="1424623"/>
            <a:ext cx="9968885" cy="10146448"/>
          </a:xfrm>
          <a:custGeom>
            <a:avLst/>
            <a:gdLst/>
            <a:ahLst/>
            <a:cxnLst/>
            <a:rect l="l" t="t" r="r" b="b"/>
            <a:pathLst>
              <a:path w="9968885" h="10146448">
                <a:moveTo>
                  <a:pt x="0" y="0"/>
                </a:moveTo>
                <a:lnTo>
                  <a:pt x="9968886" y="0"/>
                </a:lnTo>
                <a:lnTo>
                  <a:pt x="9968886" y="10146448"/>
                </a:lnTo>
                <a:lnTo>
                  <a:pt x="0" y="10146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79400" y="7471422"/>
            <a:ext cx="5096682" cy="3108976"/>
          </a:xfrm>
          <a:custGeom>
            <a:avLst/>
            <a:gdLst/>
            <a:ahLst/>
            <a:cxnLst/>
            <a:rect l="l" t="t" r="r" b="b"/>
            <a:pathLst>
              <a:path w="5096682" h="3108976">
                <a:moveTo>
                  <a:pt x="0" y="0"/>
                </a:moveTo>
                <a:lnTo>
                  <a:pt x="5096682" y="0"/>
                </a:lnTo>
                <a:lnTo>
                  <a:pt x="5096682" y="3108976"/>
                </a:lnTo>
                <a:lnTo>
                  <a:pt x="0" y="3108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0798" y="-1370360"/>
            <a:ext cx="3689023" cy="3610632"/>
          </a:xfrm>
          <a:custGeom>
            <a:avLst/>
            <a:gdLst/>
            <a:ahLst/>
            <a:cxnLst/>
            <a:rect l="l" t="t" r="r" b="b"/>
            <a:pathLst>
              <a:path w="3689023" h="3610632">
                <a:moveTo>
                  <a:pt x="0" y="0"/>
                </a:moveTo>
                <a:lnTo>
                  <a:pt x="3689023" y="0"/>
                </a:lnTo>
                <a:lnTo>
                  <a:pt x="3689023" y="3610632"/>
                </a:lnTo>
                <a:lnTo>
                  <a:pt x="0" y="3610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955972" y="2731170"/>
            <a:ext cx="3325106" cy="332510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363723" y="2731170"/>
            <a:ext cx="3325106" cy="332510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2758151" y="2731170"/>
            <a:ext cx="3325106" cy="332510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707609" y="6385783"/>
            <a:ext cx="3967452" cy="1863729"/>
            <a:chOff x="0" y="0"/>
            <a:chExt cx="1044926" cy="4908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4926" cy="490859"/>
            </a:xfrm>
            <a:custGeom>
              <a:avLst/>
              <a:gdLst/>
              <a:ahLst/>
              <a:cxnLst/>
              <a:rect l="l" t="t" r="r" b="b"/>
              <a:pathLst>
                <a:path w="1044926" h="490859">
                  <a:moveTo>
                    <a:pt x="42930" y="0"/>
                  </a:moveTo>
                  <a:lnTo>
                    <a:pt x="1001996" y="0"/>
                  </a:lnTo>
                  <a:cubicBezTo>
                    <a:pt x="1013382" y="0"/>
                    <a:pt x="1024301" y="4523"/>
                    <a:pt x="1032352" y="12574"/>
                  </a:cubicBezTo>
                  <a:cubicBezTo>
                    <a:pt x="1040403" y="20625"/>
                    <a:pt x="1044926" y="31544"/>
                    <a:pt x="1044926" y="42930"/>
                  </a:cubicBezTo>
                  <a:lnTo>
                    <a:pt x="1044926" y="447929"/>
                  </a:lnTo>
                  <a:cubicBezTo>
                    <a:pt x="1044926" y="459315"/>
                    <a:pt x="1040403" y="470234"/>
                    <a:pt x="1032352" y="478285"/>
                  </a:cubicBezTo>
                  <a:cubicBezTo>
                    <a:pt x="1024301" y="486336"/>
                    <a:pt x="1013382" y="490859"/>
                    <a:pt x="1001996" y="490859"/>
                  </a:cubicBezTo>
                  <a:lnTo>
                    <a:pt x="42930" y="490859"/>
                  </a:lnTo>
                  <a:cubicBezTo>
                    <a:pt x="19220" y="490859"/>
                    <a:pt x="0" y="471638"/>
                    <a:pt x="0" y="447929"/>
                  </a:cubicBezTo>
                  <a:lnTo>
                    <a:pt x="0" y="42930"/>
                  </a:lnTo>
                  <a:cubicBezTo>
                    <a:pt x="0" y="31544"/>
                    <a:pt x="4523" y="20625"/>
                    <a:pt x="12574" y="12574"/>
                  </a:cubicBezTo>
                  <a:cubicBezTo>
                    <a:pt x="20625" y="4523"/>
                    <a:pt x="31544" y="0"/>
                    <a:pt x="429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5FCFF">
                    <a:alpha val="100000"/>
                  </a:srgbClr>
                </a:gs>
                <a:gs pos="66667">
                  <a:srgbClr val="E9FAFF">
                    <a:alpha val="100000"/>
                  </a:srgbClr>
                </a:gs>
                <a:gs pos="100000">
                  <a:srgbClr val="D4FDFE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44926" cy="538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66181" y="6497847"/>
            <a:ext cx="3147645" cy="1751666"/>
            <a:chOff x="0" y="0"/>
            <a:chExt cx="829009" cy="4613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9009" cy="461344"/>
            </a:xfrm>
            <a:custGeom>
              <a:avLst/>
              <a:gdLst/>
              <a:ahLst/>
              <a:cxnLst/>
              <a:rect l="l" t="t" r="r" b="b"/>
              <a:pathLst>
                <a:path w="829009" h="461344">
                  <a:moveTo>
                    <a:pt x="54111" y="0"/>
                  </a:moveTo>
                  <a:lnTo>
                    <a:pt x="774898" y="0"/>
                  </a:lnTo>
                  <a:cubicBezTo>
                    <a:pt x="789250" y="0"/>
                    <a:pt x="803013" y="5701"/>
                    <a:pt x="813161" y="15849"/>
                  </a:cubicBezTo>
                  <a:cubicBezTo>
                    <a:pt x="823308" y="25997"/>
                    <a:pt x="829009" y="39760"/>
                    <a:pt x="829009" y="54111"/>
                  </a:cubicBezTo>
                  <a:lnTo>
                    <a:pt x="829009" y="407233"/>
                  </a:lnTo>
                  <a:cubicBezTo>
                    <a:pt x="829009" y="421584"/>
                    <a:pt x="823308" y="435348"/>
                    <a:pt x="813161" y="445495"/>
                  </a:cubicBezTo>
                  <a:cubicBezTo>
                    <a:pt x="803013" y="455643"/>
                    <a:pt x="789250" y="461344"/>
                    <a:pt x="774898" y="461344"/>
                  </a:cubicBezTo>
                  <a:lnTo>
                    <a:pt x="54111" y="461344"/>
                  </a:lnTo>
                  <a:cubicBezTo>
                    <a:pt x="39760" y="461344"/>
                    <a:pt x="25997" y="455643"/>
                    <a:pt x="15849" y="445495"/>
                  </a:cubicBezTo>
                  <a:cubicBezTo>
                    <a:pt x="5701" y="435348"/>
                    <a:pt x="0" y="421584"/>
                    <a:pt x="0" y="407233"/>
                  </a:cubicBezTo>
                  <a:lnTo>
                    <a:pt x="0" y="54111"/>
                  </a:lnTo>
                  <a:cubicBezTo>
                    <a:pt x="0" y="39760"/>
                    <a:pt x="5701" y="25997"/>
                    <a:pt x="15849" y="15849"/>
                  </a:cubicBezTo>
                  <a:cubicBezTo>
                    <a:pt x="25997" y="5701"/>
                    <a:pt x="39760" y="0"/>
                    <a:pt x="541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5FCFF">
                    <a:alpha val="100000"/>
                  </a:srgbClr>
                </a:gs>
                <a:gs pos="66667">
                  <a:srgbClr val="E9FAFF">
                    <a:alpha val="100000"/>
                  </a:srgbClr>
                </a:gs>
                <a:gs pos="100000">
                  <a:srgbClr val="D4FDFE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29009" cy="508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79263" y="6457747"/>
            <a:ext cx="3406075" cy="1791766"/>
            <a:chOff x="0" y="0"/>
            <a:chExt cx="897073" cy="4719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7073" cy="471905"/>
            </a:xfrm>
            <a:custGeom>
              <a:avLst/>
              <a:gdLst/>
              <a:ahLst/>
              <a:cxnLst/>
              <a:rect l="l" t="t" r="r" b="b"/>
              <a:pathLst>
                <a:path w="897073" h="471905">
                  <a:moveTo>
                    <a:pt x="50005" y="0"/>
                  </a:moveTo>
                  <a:lnTo>
                    <a:pt x="847068" y="0"/>
                  </a:lnTo>
                  <a:cubicBezTo>
                    <a:pt x="874685" y="0"/>
                    <a:pt x="897073" y="22388"/>
                    <a:pt x="897073" y="50005"/>
                  </a:cubicBezTo>
                  <a:lnTo>
                    <a:pt x="897073" y="421900"/>
                  </a:lnTo>
                  <a:cubicBezTo>
                    <a:pt x="897073" y="435162"/>
                    <a:pt x="891805" y="447881"/>
                    <a:pt x="882427" y="457259"/>
                  </a:cubicBezTo>
                  <a:cubicBezTo>
                    <a:pt x="873049" y="466637"/>
                    <a:pt x="860330" y="471905"/>
                    <a:pt x="847068" y="471905"/>
                  </a:cubicBezTo>
                  <a:lnTo>
                    <a:pt x="50005" y="471905"/>
                  </a:lnTo>
                  <a:cubicBezTo>
                    <a:pt x="22388" y="471905"/>
                    <a:pt x="0" y="449517"/>
                    <a:pt x="0" y="421900"/>
                  </a:cubicBezTo>
                  <a:lnTo>
                    <a:pt x="0" y="50005"/>
                  </a:lnTo>
                  <a:cubicBezTo>
                    <a:pt x="0" y="36743"/>
                    <a:pt x="5268" y="24024"/>
                    <a:pt x="14646" y="14646"/>
                  </a:cubicBezTo>
                  <a:cubicBezTo>
                    <a:pt x="24024" y="5268"/>
                    <a:pt x="36743" y="0"/>
                    <a:pt x="500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5FCFF">
                    <a:alpha val="100000"/>
                  </a:srgbClr>
                </a:gs>
                <a:gs pos="66667">
                  <a:srgbClr val="E9FAFF">
                    <a:alpha val="100000"/>
                  </a:srgbClr>
                </a:gs>
                <a:gs pos="100000">
                  <a:srgbClr val="D4FDFE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97073" cy="519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TEAM-1 Member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33484" y="6410122"/>
            <a:ext cx="3370082" cy="148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3"/>
              </a:lnSpc>
            </a:pPr>
            <a:r>
              <a:rPr lang="en-US" sz="2845" spc="-4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Project manager and Doman expert</a:t>
            </a:r>
          </a:p>
          <a:p>
            <a:pPr algn="ctr">
              <a:lnSpc>
                <a:spcPts val="3983"/>
              </a:lnSpc>
            </a:pPr>
            <a:r>
              <a:rPr lang="en-US" sz="2845" b="1" spc="-42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Sainbuyan L.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43745" y="6823116"/>
            <a:ext cx="3370082" cy="98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3"/>
              </a:lnSpc>
            </a:pPr>
            <a:r>
              <a:rPr lang="en-US" sz="2845" spc="-4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Data sceintist</a:t>
            </a:r>
          </a:p>
          <a:p>
            <a:pPr algn="ctr">
              <a:lnSpc>
                <a:spcPts val="3983"/>
              </a:lnSpc>
            </a:pPr>
            <a:r>
              <a:rPr lang="en-US" sz="2845" b="1" spc="-42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Munkhnaran B.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57659" y="6574852"/>
            <a:ext cx="3370082" cy="148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3"/>
              </a:lnSpc>
            </a:pPr>
            <a:r>
              <a:rPr lang="en-US" sz="2845" spc="-4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Knowledge engineer</a:t>
            </a:r>
          </a:p>
          <a:p>
            <a:pPr algn="ctr">
              <a:lnSpc>
                <a:spcPts val="3983"/>
              </a:lnSpc>
            </a:pPr>
            <a:r>
              <a:rPr lang="en-US" sz="2845" b="1" spc="-42" err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Altangerel</a:t>
            </a:r>
            <a:r>
              <a:rPr lang="en-US" sz="2845" b="1" spc="-42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 N.</a:t>
            </a:r>
            <a:r>
              <a:rPr lang="en-US" sz="2845" spc="-42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5E0916-B519-4244-A19E-7CA7516C5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606" y="3219920"/>
            <a:ext cx="2236194" cy="2236194"/>
          </a:xfrm>
          <a:prstGeom prst="rect">
            <a:avLst/>
          </a:prstGeom>
        </p:spPr>
      </p:pic>
      <p:pic>
        <p:nvPicPr>
          <p:cNvPr id="1028" name="Picture 4" descr="Data scientist - Free technology icons">
            <a:extLst>
              <a:ext uri="{FF2B5EF4-FFF2-40B4-BE49-F238E27FC236}">
                <a16:creationId xmlns:a16="http://schemas.microsoft.com/office/drawing/2014/main" id="{0A9C99DC-7FC0-4295-8F12-2B199A416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3219920"/>
            <a:ext cx="2044555" cy="204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gineer - Free user icons">
            <a:extLst>
              <a:ext uri="{FF2B5EF4-FFF2-40B4-BE49-F238E27FC236}">
                <a16:creationId xmlns:a16="http://schemas.microsoft.com/office/drawing/2014/main" id="{B9EE53D8-86C1-4088-8F37-26FED67DE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2524" y="3072631"/>
            <a:ext cx="2371932" cy="237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88948" y="6733692"/>
            <a:ext cx="3049334" cy="4602768"/>
          </a:xfrm>
          <a:custGeom>
            <a:avLst/>
            <a:gdLst/>
            <a:ahLst/>
            <a:cxnLst/>
            <a:rect l="l" t="t" r="r" b="b"/>
            <a:pathLst>
              <a:path w="3049334" h="4602768">
                <a:moveTo>
                  <a:pt x="0" y="0"/>
                </a:moveTo>
                <a:lnTo>
                  <a:pt x="3049333" y="0"/>
                </a:lnTo>
                <a:lnTo>
                  <a:pt x="3049333" y="4602768"/>
                </a:lnTo>
                <a:lnTo>
                  <a:pt x="0" y="4602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882480" y="8080640"/>
            <a:ext cx="1399893" cy="1177660"/>
          </a:xfrm>
          <a:custGeom>
            <a:avLst/>
            <a:gdLst/>
            <a:ahLst/>
            <a:cxnLst/>
            <a:rect l="l" t="t" r="r" b="b"/>
            <a:pathLst>
              <a:path w="1399893" h="1177660">
                <a:moveTo>
                  <a:pt x="0" y="1177660"/>
                </a:moveTo>
                <a:lnTo>
                  <a:pt x="1399893" y="1177660"/>
                </a:lnTo>
                <a:lnTo>
                  <a:pt x="1399893" y="0"/>
                </a:lnTo>
                <a:lnTo>
                  <a:pt x="0" y="0"/>
                </a:lnTo>
                <a:lnTo>
                  <a:pt x="0" y="11776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747735" y="6965600"/>
            <a:ext cx="1023130" cy="860708"/>
          </a:xfrm>
          <a:custGeom>
            <a:avLst/>
            <a:gdLst/>
            <a:ahLst/>
            <a:cxnLst/>
            <a:rect l="l" t="t" r="r" b="b"/>
            <a:pathLst>
              <a:path w="1023130" h="860708">
                <a:moveTo>
                  <a:pt x="1023130" y="860707"/>
                </a:moveTo>
                <a:lnTo>
                  <a:pt x="0" y="860707"/>
                </a:lnTo>
                <a:lnTo>
                  <a:pt x="0" y="0"/>
                </a:lnTo>
                <a:lnTo>
                  <a:pt x="1023130" y="0"/>
                </a:lnTo>
                <a:lnTo>
                  <a:pt x="1023130" y="86070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81658" y="7706949"/>
            <a:ext cx="3908916" cy="3102702"/>
          </a:xfrm>
          <a:custGeom>
            <a:avLst/>
            <a:gdLst/>
            <a:ahLst/>
            <a:cxnLst/>
            <a:rect l="l" t="t" r="r" b="b"/>
            <a:pathLst>
              <a:path w="3908916" h="3102702">
                <a:moveTo>
                  <a:pt x="0" y="0"/>
                </a:moveTo>
                <a:lnTo>
                  <a:pt x="3908917" y="0"/>
                </a:lnTo>
                <a:lnTo>
                  <a:pt x="3908917" y="3102702"/>
                </a:lnTo>
                <a:lnTo>
                  <a:pt x="0" y="3102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1162" y="2274329"/>
            <a:ext cx="14311387" cy="44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PHASE 1-PURPOSE DEFINITION</a:t>
            </a:r>
          </a:p>
          <a:p>
            <a:pPr marL="1209039" lvl="2" indent="-403013" algn="just">
              <a:lnSpc>
                <a:spcPts val="3919"/>
              </a:lnSpc>
              <a:buFont typeface="Arial"/>
              <a:buChar char="⚬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Personas </a:t>
            </a:r>
          </a:p>
          <a:p>
            <a:pPr marL="1209039" lvl="2" indent="-403013" algn="just">
              <a:lnSpc>
                <a:spcPts val="3919"/>
              </a:lnSpc>
              <a:buFont typeface="Arial"/>
              <a:buChar char="⚬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Scenarios </a:t>
            </a:r>
          </a:p>
          <a:p>
            <a:pPr marL="1209039" lvl="2" indent="-403013" algn="just">
              <a:lnSpc>
                <a:spcPts val="3919"/>
              </a:lnSpc>
              <a:buFont typeface="Arial"/>
              <a:buChar char="⚬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Concept identification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2 - Information gathering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3 - Language definition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4 - Knowledge definition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r>
              <a:rPr lang="en-US" sz="2799" spc="-41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5 - Entity definition</a:t>
            </a:r>
          </a:p>
          <a:p>
            <a:pPr marL="604519" lvl="1" indent="-302260" algn="just">
              <a:lnSpc>
                <a:spcPts val="3919"/>
              </a:lnSpc>
              <a:buAutoNum type="arabicPeriod"/>
            </a:pPr>
            <a:endParaRPr lang="en-US" sz="2799" spc="-41">
              <a:solidFill>
                <a:srgbClr val="000000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3000" y="2289467"/>
            <a:ext cx="6810450" cy="3933035"/>
          </a:xfrm>
          <a:custGeom>
            <a:avLst/>
            <a:gdLst/>
            <a:ahLst/>
            <a:cxnLst/>
            <a:rect l="l" t="t" r="r" b="b"/>
            <a:pathLst>
              <a:path w="6810450" h="3933035">
                <a:moveTo>
                  <a:pt x="0" y="0"/>
                </a:moveTo>
                <a:lnTo>
                  <a:pt x="6810450" y="0"/>
                </a:lnTo>
                <a:lnTo>
                  <a:pt x="6810450" y="3933034"/>
                </a:lnTo>
                <a:lnTo>
                  <a:pt x="0" y="3933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58400" y="2289468"/>
            <a:ext cx="6825223" cy="3933035"/>
          </a:xfrm>
          <a:custGeom>
            <a:avLst/>
            <a:gdLst/>
            <a:ahLst/>
            <a:cxnLst/>
            <a:rect l="l" t="t" r="r" b="b"/>
            <a:pathLst>
              <a:path w="6825223" h="3933035">
                <a:moveTo>
                  <a:pt x="0" y="0"/>
                </a:moveTo>
                <a:lnTo>
                  <a:pt x="6825223" y="0"/>
                </a:lnTo>
                <a:lnTo>
                  <a:pt x="6825223" y="3933034"/>
                </a:lnTo>
                <a:lnTo>
                  <a:pt x="0" y="39330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Informal Purpose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141" y="6691426"/>
            <a:ext cx="7997059" cy="259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Consolidate dispersed and unstructured Mongolian cinema data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Build a connected data model using ontology and knowledge-graph methodology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Provide a comprehensive, searchable, analyzable Knowledge Graph of Mongolian Cinema.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9634" y="6691426"/>
            <a:ext cx="8918366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Explore connections among Mongolian films,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Analyze relationships between filmmakers, actors, and studios,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Study genres, award trends, and historical developments,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-36">
                <a:solidFill>
                  <a:srgbClr val="008387"/>
                </a:solidFill>
                <a:latin typeface="Prompt"/>
                <a:ea typeface="Prompt"/>
                <a:cs typeface="Prompt"/>
                <a:sym typeface="Prompt"/>
              </a:rPr>
              <a:t>Success all essential information about a film from a single query,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8779" y="27734"/>
            <a:ext cx="329044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- 1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36855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Personas and scenarios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962400" y="2110092"/>
            <a:ext cx="1672614" cy="1672607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t="-54563" b="-5456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4768353" y="2110092"/>
            <a:ext cx="1672614" cy="1672607"/>
            <a:chOff x="0" y="0"/>
            <a:chExt cx="6350000" cy="634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24931" r="-24931"/>
              </a:stretch>
            </a:blip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4914"/>
              </p:ext>
            </p:extLst>
          </p:nvPr>
        </p:nvGraphicFramePr>
        <p:xfrm>
          <a:off x="0" y="4068449"/>
          <a:ext cx="18211801" cy="613949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7010"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Name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 b="1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Non-Fan Viewer</a:t>
                      </a:r>
                      <a:endParaRPr lang="en-US" sz="1100" b="1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C7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 b="1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Film Enthusiast</a:t>
                      </a:r>
                      <a:endParaRPr lang="en-US" sz="1100" b="1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C7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 b="1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Business Owner</a:t>
                      </a:r>
                      <a:endParaRPr lang="en-US" sz="1100" b="1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C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821"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Goal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Has no film knowledge. Wants to pick a high-rated film by a director/actor his girlfriend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likes for a movie date.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Find other works by a favorite 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actor or director.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Collaborate with filmmakers popular among target customers (e.g., children, women).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5214"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Needs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93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View linked information among director, film, actor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 Runtime and short summary</a:t>
                      </a:r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 High-rated films featuring a preferred artist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endParaRPr lang="en-US" sz="1599">
                        <a:solidFill>
                          <a:srgbClr val="000937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Similar-genre films, related works by the same creators, ability to discover underrated,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lesser-known but high-rated films. Importance placed on rating and release year.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Networks of artist collaborations, film ratings and recent releases, identify current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trending filmmakers with strong portfolios.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117"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Scenarios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Selecting a good Mongolian film for a date.</a:t>
                      </a:r>
                      <a:endParaRPr lang="en-US" sz="1100"/>
                    </a:p>
                    <a:p>
                      <a:pPr algn="just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Finding underrated films by a favorite director.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Collaborate with currently active, trending filmmakers.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5336">
                <a:tc>
                  <a:txBody>
                    <a:bodyPr/>
                    <a:lstStyle/>
                    <a:p>
                      <a:pPr algn="ctr">
                        <a:lnSpc>
                          <a:spcPts val="2569"/>
                        </a:lnSpc>
                        <a:defRPr/>
                      </a:pPr>
                      <a:r>
                        <a:rPr lang="en-US" sz="1835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KG-needs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937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Actor - list of other high-rated films; 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Movie - Genre, runtime; </a:t>
                      </a:r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Director –genre connections to understand film type.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endParaRPr lang="en-US" sz="1599">
                        <a:solidFill>
                          <a:srgbClr val="000937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Director B – list of all directed films; 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Filter by high rating, </a:t>
                      </a:r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Release year is before 2000.</a:t>
                      </a:r>
                    </a:p>
                    <a:p>
                      <a:pPr algn="just">
                        <a:lnSpc>
                          <a:spcPts val="2239"/>
                        </a:lnSpc>
                      </a:pPr>
                      <a:endParaRPr lang="en-US" sz="1599">
                        <a:solidFill>
                          <a:srgbClr val="000937"/>
                        </a:solidFill>
                        <a:latin typeface="Prompt"/>
                        <a:ea typeface="Prompt"/>
                        <a:cs typeface="Prompt"/>
                        <a:sym typeface="Prompt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tc>
                  <a:txBody>
                    <a:bodyPr/>
                    <a:lstStyle/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Production company - list of produced films; </a:t>
                      </a:r>
                      <a:endParaRPr lang="en-US" sz="1100"/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Filter by 2020–2024 high-rated releases; </a:t>
                      </a:r>
                    </a:p>
                    <a:p>
                      <a:pPr marL="345439" lvl="1" indent="-172720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>
                          <a:solidFill>
                            <a:srgbClr val="000937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Identify frequently collaborating actors and directors.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7538517" y="18209"/>
            <a:ext cx="321096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- 1 </a:t>
            </a:r>
          </a:p>
        </p:txBody>
      </p:sp>
      <p:pic>
        <p:nvPicPr>
          <p:cNvPr id="2050" name="Picture 2" descr="Daily Movie: Film Enthusiast Week – Monday: Roger Ebert and 'Raging Bull'  (1980) | 24 Miles">
            <a:extLst>
              <a:ext uri="{FF2B5EF4-FFF2-40B4-BE49-F238E27FC236}">
                <a16:creationId xmlns:a16="http://schemas.microsoft.com/office/drawing/2014/main" id="{7DEC7B8C-EC6F-4A2D-ADEB-BFED43F441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0" r="19623"/>
          <a:stretch/>
        </p:blipFill>
        <p:spPr bwMode="auto">
          <a:xfrm>
            <a:off x="8991600" y="2110092"/>
            <a:ext cx="2133600" cy="167260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Competency Questions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9579" y="2473723"/>
            <a:ext cx="14311387" cy="671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Can Mongolian films be listed by release year?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What films has Director X made, and in which years?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Which actors starred in Movie Y?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Which Mongolian actors have the highest number of film appearances?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FF5F6F"/>
                </a:solidFill>
                <a:latin typeface="Prompt"/>
                <a:ea typeface="Prompt"/>
                <a:cs typeface="Prompt"/>
                <a:sym typeface="Prompt"/>
              </a:rPr>
              <a:t>Which Mongolian films have won domestic or international awards?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What works has Production Company Z released?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What common features link films of a specific release year?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Can we generate an actor-actor or actor–director collaboration network?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Who are the trending filmmakers of the last five years?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spc="-48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Can we visualize the career timeline of an actor or director?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8517" y="18209"/>
            <a:ext cx="321096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- 1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93371" y="2122352"/>
            <a:ext cx="11301259" cy="3347998"/>
          </a:xfrm>
          <a:custGeom>
            <a:avLst/>
            <a:gdLst/>
            <a:ahLst/>
            <a:cxnLst/>
            <a:rect l="l" t="t" r="r" b="b"/>
            <a:pathLst>
              <a:path w="11301259" h="3347998">
                <a:moveTo>
                  <a:pt x="0" y="0"/>
                </a:moveTo>
                <a:lnTo>
                  <a:pt x="11301258" y="0"/>
                </a:lnTo>
                <a:lnTo>
                  <a:pt x="11301258" y="3347998"/>
                </a:lnTo>
                <a:lnTo>
                  <a:pt x="0" y="334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44938" y="6696300"/>
            <a:ext cx="5187811" cy="2317028"/>
          </a:xfrm>
          <a:custGeom>
            <a:avLst/>
            <a:gdLst/>
            <a:ahLst/>
            <a:cxnLst/>
            <a:rect l="l" t="t" r="r" b="b"/>
            <a:pathLst>
              <a:path w="5187811" h="2317028">
                <a:moveTo>
                  <a:pt x="0" y="0"/>
                </a:moveTo>
                <a:lnTo>
                  <a:pt x="5187810" y="0"/>
                </a:lnTo>
                <a:lnTo>
                  <a:pt x="5187810" y="2317027"/>
                </a:lnTo>
                <a:lnTo>
                  <a:pt x="0" y="23170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ERD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8517" y="18209"/>
            <a:ext cx="321096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- 1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01884" y="2710764"/>
            <a:ext cx="3283466" cy="1846950"/>
          </a:xfrm>
          <a:custGeom>
            <a:avLst/>
            <a:gdLst/>
            <a:ahLst/>
            <a:cxnLst/>
            <a:rect l="l" t="t" r="r" b="b"/>
            <a:pathLst>
              <a:path w="3283466" h="1846950">
                <a:moveTo>
                  <a:pt x="0" y="0"/>
                </a:moveTo>
                <a:lnTo>
                  <a:pt x="3283466" y="0"/>
                </a:lnTo>
                <a:lnTo>
                  <a:pt x="3283466" y="1846950"/>
                </a:lnTo>
                <a:lnTo>
                  <a:pt x="0" y="1846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50076" y="3151361"/>
            <a:ext cx="3672706" cy="1406353"/>
          </a:xfrm>
          <a:custGeom>
            <a:avLst/>
            <a:gdLst/>
            <a:ahLst/>
            <a:cxnLst/>
            <a:rect l="l" t="t" r="r" b="b"/>
            <a:pathLst>
              <a:path w="3672706" h="1406353">
                <a:moveTo>
                  <a:pt x="0" y="0"/>
                </a:moveTo>
                <a:lnTo>
                  <a:pt x="3672705" y="0"/>
                </a:lnTo>
                <a:lnTo>
                  <a:pt x="3672705" y="1406353"/>
                </a:lnTo>
                <a:lnTo>
                  <a:pt x="0" y="1406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87911" y="2543546"/>
            <a:ext cx="1725277" cy="2181385"/>
          </a:xfrm>
          <a:custGeom>
            <a:avLst/>
            <a:gdLst/>
            <a:ahLst/>
            <a:cxnLst/>
            <a:rect l="l" t="t" r="r" b="b"/>
            <a:pathLst>
              <a:path w="1725277" h="2181385">
                <a:moveTo>
                  <a:pt x="0" y="0"/>
                </a:moveTo>
                <a:lnTo>
                  <a:pt x="1725277" y="0"/>
                </a:lnTo>
                <a:lnTo>
                  <a:pt x="1725277" y="2181386"/>
                </a:lnTo>
                <a:lnTo>
                  <a:pt x="0" y="2181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SOURCES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6558" y="18209"/>
            <a:ext cx="335488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spc="-77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PHASE - 2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8320" y="4981575"/>
            <a:ext cx="5191299" cy="4907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Provides semi-structured pages for individual Mongolian films, including titles, directors, actors, production companies, runtimes, summaries, and award information. </a:t>
            </a:r>
          </a:p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Type: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Language + Data-value resource. </a:t>
            </a:r>
          </a:p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Diversity Awareness: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Not diversity-aware; structure varies between pages.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40196" y="4981575"/>
            <a:ext cx="5191299" cy="4459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A local Mongolian online movie portal listing films, posters, cast, genre tags, summaries, and sometimes ratings and release years. </a:t>
            </a:r>
          </a:p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Type: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Data-value resource. </a:t>
            </a: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Diversity Awareness: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Not diversity-aware; heterogeneous formats.</a:t>
            </a:r>
          </a:p>
          <a:p>
            <a:pPr algn="just">
              <a:lnSpc>
                <a:spcPts val="3560"/>
              </a:lnSpc>
              <a:spcBef>
                <a:spcPct val="0"/>
              </a:spcBef>
            </a:pPr>
            <a:endParaRPr lang="en-US" sz="2543">
              <a:solidFill>
                <a:srgbClr val="000000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4647" y="4981575"/>
            <a:ext cx="5191299" cy="356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Informal text resources describing film concepts (Movie, Person, Actor, Director, Genre, Rating). </a:t>
            </a:r>
          </a:p>
          <a:p>
            <a:pPr algn="just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Type: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 Language resource. </a:t>
            </a:r>
            <a:r>
              <a:rPr lang="en-US" sz="2543" b="1">
                <a:solidFill>
                  <a:srgbClr val="000000"/>
                </a:solidFill>
                <a:latin typeface="Prompt Bold"/>
                <a:ea typeface="Prompt Bold"/>
                <a:cs typeface="Prompt Bold"/>
                <a:sym typeface="Prompt Bold"/>
              </a:rPr>
              <a:t>Diversity Awareness: </a:t>
            </a:r>
            <a:r>
              <a:rPr lang="en-US" sz="2543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Yes; domain vocabulary structures are fully under project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DATA COLLECTING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21F60-ADCB-3668-0469-AD2DD2BE1CC4}"/>
              </a:ext>
            </a:extLst>
          </p:cNvPr>
          <p:cNvSpPr txBox="1"/>
          <p:nvPr/>
        </p:nvSpPr>
        <p:spPr>
          <a:xfrm>
            <a:off x="1061999" y="2340000"/>
            <a:ext cx="7289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latin typeface="Prompt Semi-Bold"/>
                <a:ea typeface="+mn-lt"/>
                <a:cs typeface="Prompt Semi-Bold"/>
              </a:rPr>
              <a:t>WEB SCRAPING PIPELINE:</a:t>
            </a:r>
            <a:endParaRPr lang="en-GB">
              <a:latin typeface="Prompt Semi-Bold"/>
              <a:ea typeface="+mn-lt"/>
              <a:cs typeface="Prompt Semi-Bold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3945BB1-7FF1-C434-3445-AE39DCAE6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032419"/>
              </p:ext>
            </p:extLst>
          </p:nvPr>
        </p:nvGraphicFramePr>
        <p:xfrm>
          <a:off x="630000" y="2704500"/>
          <a:ext cx="17001760" cy="6930022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962882">
                  <a:extLst>
                    <a:ext uri="{9D8B030D-6E8A-4147-A177-3AD203B41FA5}">
                      <a16:colId xmlns:a16="http://schemas.microsoft.com/office/drawing/2014/main" val="1329228536"/>
                    </a:ext>
                  </a:extLst>
                </a:gridCol>
                <a:gridCol w="3411357">
                  <a:extLst>
                    <a:ext uri="{9D8B030D-6E8A-4147-A177-3AD203B41FA5}">
                      <a16:colId xmlns:a16="http://schemas.microsoft.com/office/drawing/2014/main" val="1754701332"/>
                    </a:ext>
                  </a:extLst>
                </a:gridCol>
                <a:gridCol w="6575114">
                  <a:extLst>
                    <a:ext uri="{9D8B030D-6E8A-4147-A177-3AD203B41FA5}">
                      <a16:colId xmlns:a16="http://schemas.microsoft.com/office/drawing/2014/main" val="479243025"/>
                    </a:ext>
                  </a:extLst>
                </a:gridCol>
                <a:gridCol w="6052407">
                  <a:extLst>
                    <a:ext uri="{9D8B030D-6E8A-4147-A177-3AD203B41FA5}">
                      <a16:colId xmlns:a16="http://schemas.microsoft.com/office/drawing/2014/main" val="1725619229"/>
                    </a:ext>
                  </a:extLst>
                </a:gridCol>
              </a:tblGrid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No.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Stage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Implementation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092880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ID-based Crawling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Iterate through sequential movie pages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for </a:t>
                      </a:r>
                      <a:r>
                        <a:rPr lang="en-GB" sz="2400" err="1"/>
                        <a:t>movie_id</a:t>
                      </a:r>
                      <a:r>
                        <a:rPr lang="en-GB" sz="2400"/>
                        <a:t> in range(2500, 3000)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216106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Dynamic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Fully load JavaScript-rendered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Selenium + Headless Chrome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245810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Page Rendering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Retrieve complete page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err="1"/>
                        <a:t>get_rendered_html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672760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Text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Extract unified text from 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err="1"/>
                        <a:t>BeautifulSoup.get_text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924786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Metadata Parsing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Parse title, type, year, age rating,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err="1"/>
                        <a:t>extract_movie_header_and_genres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382029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Rating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Extract </a:t>
                      </a:r>
                      <a:r>
                        <a:rPr lang="en-GB" sz="2400" err="1"/>
                        <a:t>Kinosan</a:t>
                      </a:r>
                      <a:r>
                        <a:rPr lang="en-GB" sz="2400"/>
                        <a:t> rating using regex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err="1"/>
                        <a:t>extract_rating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549357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Staff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Extract director, writer, cast, production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err="1"/>
                        <a:t>extract_movie_staff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662014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Validation &amp;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Skip invalid or empty pages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Title check + empty field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333718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Structured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Organize collected data into tabular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Pandas </a:t>
                      </a:r>
                      <a:r>
                        <a:rPr lang="en-GB" sz="2400" err="1"/>
                        <a:t>DataFrame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127246"/>
                  </a:ext>
                </a:extLst>
              </a:tr>
              <a:tr h="6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Data Export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Generate cleaned Excel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kinosan_movies5.xlsx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692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9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ea typeface="+mn-lt"/>
                <a:cs typeface="+mn-lt"/>
                <a:sym typeface="Prompt Semi-Bold"/>
              </a:rPr>
              <a:t>DATA CLEANING &amp; STANDARDIZATION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- 2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156600-4084-0D87-EE61-A39CCFF27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79632"/>
              </p:ext>
            </p:extLst>
          </p:nvPr>
        </p:nvGraphicFramePr>
        <p:xfrm>
          <a:off x="549000" y="2110140"/>
          <a:ext cx="17136655" cy="6968988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901928">
                  <a:extLst>
                    <a:ext uri="{9D8B030D-6E8A-4147-A177-3AD203B41FA5}">
                      <a16:colId xmlns:a16="http://schemas.microsoft.com/office/drawing/2014/main" val="2725787091"/>
                    </a:ext>
                  </a:extLst>
                </a:gridCol>
                <a:gridCol w="3422705">
                  <a:extLst>
                    <a:ext uri="{9D8B030D-6E8A-4147-A177-3AD203B41FA5}">
                      <a16:colId xmlns:a16="http://schemas.microsoft.com/office/drawing/2014/main" val="2170431646"/>
                    </a:ext>
                  </a:extLst>
                </a:gridCol>
                <a:gridCol w="8603018">
                  <a:extLst>
                    <a:ext uri="{9D8B030D-6E8A-4147-A177-3AD203B41FA5}">
                      <a16:colId xmlns:a16="http://schemas.microsoft.com/office/drawing/2014/main" val="1227606147"/>
                    </a:ext>
                  </a:extLst>
                </a:gridCol>
                <a:gridCol w="4209004">
                  <a:extLst>
                    <a:ext uri="{9D8B030D-6E8A-4147-A177-3AD203B41FA5}">
                      <a16:colId xmlns:a16="http://schemas.microsoft.com/office/drawing/2014/main" val="3673255928"/>
                    </a:ext>
                  </a:extLst>
                </a:gridCol>
              </a:tblGrid>
              <a:tr h="738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No.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Step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Output / Purpose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40164"/>
                  </a:ext>
                </a:extLst>
              </a:tr>
              <a:tr h="738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Data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Movies and Actors Excel files (heterogeneous schemas)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Raw input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731949"/>
                  </a:ext>
                </a:extLst>
              </a:tr>
              <a:tr h="77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Column Auto-Detection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Automatically match column names using </a:t>
                      </a:r>
                      <a:r>
                        <a:rPr lang="en-GB" sz="2400" err="1"/>
                        <a:t>pick_col</a:t>
                      </a:r>
                      <a:r>
                        <a:rPr lang="en-GB" sz="240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Schema-independent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543299"/>
                  </a:ext>
                </a:extLst>
              </a:tr>
              <a:tr h="738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Text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Remove extra spaces and special characters to create canonical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Consistent entity names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786910"/>
                  </a:ext>
                </a:extLst>
              </a:tr>
              <a:tr h="77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Name Canonicalization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Generate *_norm keys by lowercasing and removing punctuation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Entity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155662"/>
                  </a:ext>
                </a:extLst>
              </a:tr>
              <a:tr h="738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Numerical 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Year → Int64, Rating → Float, Runtime →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Comparable numeric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644097"/>
                  </a:ext>
                </a:extLst>
              </a:tr>
              <a:tr h="77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Missing Value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Empty / “</a:t>
                      </a:r>
                      <a:r>
                        <a:rPr lang="en-GB" sz="2400" err="1"/>
                        <a:t>NaN</a:t>
                      </a:r>
                      <a:r>
                        <a:rPr lang="en-GB" sz="2400"/>
                        <a:t>” values → pd.NA (nullable types)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KG-compatible NULL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080297"/>
                  </a:ext>
                </a:extLst>
              </a:tr>
              <a:tr h="77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Duplicate Removal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Movies: </a:t>
                      </a:r>
                      <a:r>
                        <a:rPr lang="en-GB" sz="2400" err="1"/>
                        <a:t>title_norm</a:t>
                      </a:r>
                      <a:r>
                        <a:rPr lang="en-GB" sz="2400"/>
                        <a:t> + </a:t>
                      </a:r>
                      <a:r>
                        <a:rPr lang="en-GB" sz="2400" err="1"/>
                        <a:t>release_yearActors</a:t>
                      </a:r>
                      <a:r>
                        <a:rPr lang="en-GB" sz="2400"/>
                        <a:t>: </a:t>
                      </a:r>
                      <a:r>
                        <a:rPr lang="en-GB" sz="2400" err="1"/>
                        <a:t>actor_name_norm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One entity = one node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662448"/>
                  </a:ext>
                </a:extLst>
              </a:tr>
              <a:tr h="77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Clean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movies_clean.xlsx, actors_clean.xlsx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KG-ready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4743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62025"/>
            <a:ext cx="122767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52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Discussion of Choices, Strong and Weak Points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- 2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710513"/>
            <a:ext cx="7620000" cy="5715000"/>
            <a:chOff x="0" y="0"/>
            <a:chExt cx="2006914" cy="15051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6914" cy="1505185"/>
            </a:xfrm>
            <a:custGeom>
              <a:avLst/>
              <a:gdLst/>
              <a:ahLst/>
              <a:cxnLst/>
              <a:rect l="l" t="t" r="r" b="b"/>
              <a:pathLst>
                <a:path w="2006914" h="1505185">
                  <a:moveTo>
                    <a:pt x="0" y="0"/>
                  </a:moveTo>
                  <a:lnTo>
                    <a:pt x="2006914" y="0"/>
                  </a:lnTo>
                  <a:lnTo>
                    <a:pt x="2006914" y="1505185"/>
                  </a:lnTo>
                  <a:lnTo>
                    <a:pt x="0" y="15051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006914" cy="1552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37938" y="3710513"/>
            <a:ext cx="7620000" cy="5715000"/>
            <a:chOff x="0" y="0"/>
            <a:chExt cx="2006914" cy="15051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6914" cy="1505185"/>
            </a:xfrm>
            <a:custGeom>
              <a:avLst/>
              <a:gdLst/>
              <a:ahLst/>
              <a:cxnLst/>
              <a:rect l="l" t="t" r="r" b="b"/>
              <a:pathLst>
                <a:path w="2006914" h="1505185">
                  <a:moveTo>
                    <a:pt x="0" y="0"/>
                  </a:moveTo>
                  <a:lnTo>
                    <a:pt x="2006914" y="0"/>
                  </a:lnTo>
                  <a:lnTo>
                    <a:pt x="2006914" y="1505185"/>
                  </a:lnTo>
                  <a:lnTo>
                    <a:pt x="0" y="15051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06914" cy="1552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028700" y="9056235"/>
            <a:ext cx="3754651" cy="202065"/>
          </a:xfrm>
          <a:prstGeom prst="rect">
            <a:avLst/>
          </a:prstGeom>
          <a:solidFill>
            <a:srgbClr val="86EAE9"/>
          </a:solidFill>
        </p:spPr>
      </p:sp>
      <p:sp>
        <p:nvSpPr>
          <p:cNvPr id="13" name="AutoShape 13"/>
          <p:cNvSpPr/>
          <p:nvPr/>
        </p:nvSpPr>
        <p:spPr>
          <a:xfrm>
            <a:off x="13504649" y="9056235"/>
            <a:ext cx="3754651" cy="202065"/>
          </a:xfrm>
          <a:prstGeom prst="rect">
            <a:avLst/>
          </a:prstGeom>
          <a:solidFill>
            <a:srgbClr val="2C92D5"/>
          </a:solidFill>
        </p:spPr>
      </p:sp>
      <p:grpSp>
        <p:nvGrpSpPr>
          <p:cNvPr id="14" name="Group 14"/>
          <p:cNvGrpSpPr/>
          <p:nvPr/>
        </p:nvGrpSpPr>
        <p:grpSpPr>
          <a:xfrm>
            <a:off x="1434057" y="4836409"/>
            <a:ext cx="7214643" cy="3957980"/>
            <a:chOff x="0" y="0"/>
            <a:chExt cx="9619524" cy="52773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50"/>
              <a:ext cx="9619524" cy="503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95"/>
                </a:lnSpc>
                <a:spcBef>
                  <a:spcPct val="0"/>
                </a:spcBef>
              </a:pPr>
              <a:r>
                <a:rPr lang="en-US" sz="2399" b="1" u="none" spc="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Strengths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21841"/>
              <a:ext cx="9619524" cy="4355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18" lvl="1" indent="-194309" algn="l">
                <a:lnSpc>
                  <a:spcPts val="2699"/>
                </a:lnSpc>
                <a:buFont typeface="Arial"/>
                <a:buChar char="•"/>
              </a:pPr>
              <a:r>
                <a:rPr lang="en-US" sz="1799" b="1" spc="3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Local relevance:</a:t>
              </a:r>
              <a:r>
                <a:rPr lang="en-US" sz="1799" spc="3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The data set reflects the actual Mongolian cinema landscape, allowing realistic KG use cases.</a:t>
              </a:r>
            </a:p>
            <a:p>
              <a:pPr marL="388618" lvl="1" indent="-194309" algn="l">
                <a:lnSpc>
                  <a:spcPts val="2699"/>
                </a:lnSpc>
                <a:buFont typeface="Arial"/>
                <a:buChar char="•"/>
              </a:pPr>
              <a:r>
                <a:rPr lang="en-US" sz="1799" b="1" spc="3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Rich metadata coverage: </a:t>
              </a:r>
              <a:r>
                <a:rPr lang="en-US" sz="1799" spc="3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The combined sources provide: title, actors, directors, genre, release year, production company, ratings, summaries, and awards — enabling meaningful graph queries.</a:t>
              </a:r>
            </a:p>
            <a:p>
              <a:pPr marL="388618" lvl="1" indent="-194309" algn="l">
                <a:lnSpc>
                  <a:spcPts val="2699"/>
                </a:lnSpc>
                <a:buFont typeface="Arial"/>
                <a:buChar char="•"/>
              </a:pPr>
              <a:r>
                <a:rPr lang="en-US" sz="1799" b="1" spc="3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Compatibility with existing global models: </a:t>
              </a:r>
              <a:r>
                <a:rPr lang="en-US" sz="1799" spc="3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The data set can be mapped to Schema.org and Wikidata film structures to ensure interoperability.</a:t>
              </a:r>
            </a:p>
            <a:p>
              <a:pPr algn="l">
                <a:lnSpc>
                  <a:spcPts val="2399"/>
                </a:lnSpc>
              </a:pPr>
              <a:endParaRPr lang="en-US" sz="1799" spc="3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550135" y="2882654"/>
            <a:ext cx="1655719" cy="165571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EAE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86007" y="2882654"/>
            <a:ext cx="1655719" cy="165571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69595" y="4836409"/>
            <a:ext cx="6808642" cy="2438186"/>
            <a:chOff x="0" y="0"/>
            <a:chExt cx="9078189" cy="3250915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19050"/>
              <a:ext cx="9078189" cy="503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95"/>
                </a:lnSpc>
                <a:spcBef>
                  <a:spcPct val="0"/>
                </a:spcBef>
              </a:pPr>
              <a:r>
                <a:rPr lang="en-US" sz="2399" b="1" spc="93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Weaknesses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921841"/>
              <a:ext cx="9078189" cy="2329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5439" lvl="1" indent="-172720" algn="l">
                <a:lnSpc>
                  <a:spcPts val="2399"/>
                </a:lnSpc>
                <a:buFont typeface="Arial"/>
                <a:buChar char="•"/>
              </a:pPr>
              <a:r>
                <a:rPr lang="en-US" sz="1599" b="1" spc="3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Heterogeneous formats: </a:t>
              </a:r>
              <a:r>
                <a:rPr lang="en-US" sz="1599" spc="31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Wikipedia and Kinosan pages differ significantly in structure and require extensive cleanup.</a:t>
              </a:r>
            </a:p>
            <a:p>
              <a:pPr marL="345439" lvl="1" indent="-172720" algn="l">
                <a:lnSpc>
                  <a:spcPts val="2399"/>
                </a:lnSpc>
                <a:buFont typeface="Arial"/>
                <a:buChar char="•"/>
              </a:pPr>
              <a:r>
                <a:rPr lang="en-US" sz="1599" b="1" spc="3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Incomplete data: </a:t>
              </a:r>
              <a:r>
                <a:rPr lang="en-US" sz="1599" spc="31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Many Mongolian films lack ratings, review counts, or award information.</a:t>
              </a:r>
            </a:p>
            <a:p>
              <a:pPr marL="345439" lvl="1" indent="-172720" algn="l">
                <a:lnSpc>
                  <a:spcPts val="2399"/>
                </a:lnSpc>
                <a:buFont typeface="Arial"/>
                <a:buChar char="•"/>
              </a:pPr>
              <a:r>
                <a:rPr lang="en-US" sz="1599" b="1" spc="31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Name inconsistency: </a:t>
              </a:r>
              <a:r>
                <a:rPr lang="en-US" sz="1599" spc="31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Lack of standardized transliteration or naming conventions for actors and directors.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Language definition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- 3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47E86E-F4F7-4062-B394-C31F9D1FF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893681"/>
              </p:ext>
            </p:extLst>
          </p:nvPr>
        </p:nvGraphicFramePr>
        <p:xfrm>
          <a:off x="457200" y="2547762"/>
          <a:ext cx="16416693" cy="5541326"/>
        </p:xfrm>
        <a:graphic>
          <a:graphicData uri="http://schemas.openxmlformats.org/drawingml/2006/table">
            <a:tbl>
              <a:tblPr/>
              <a:tblGrid>
                <a:gridCol w="2592695">
                  <a:extLst>
                    <a:ext uri="{9D8B030D-6E8A-4147-A177-3AD203B41FA5}">
                      <a16:colId xmlns:a16="http://schemas.microsoft.com/office/drawing/2014/main" val="1314547348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3212048678"/>
                    </a:ext>
                  </a:extLst>
                </a:gridCol>
                <a:gridCol w="7577998">
                  <a:extLst>
                    <a:ext uri="{9D8B030D-6E8A-4147-A177-3AD203B41FA5}">
                      <a16:colId xmlns:a16="http://schemas.microsoft.com/office/drawing/2014/main" val="1687704721"/>
                    </a:ext>
                  </a:extLst>
                </a:gridCol>
                <a:gridCol w="4014000">
                  <a:extLst>
                    <a:ext uri="{9D8B030D-6E8A-4147-A177-3AD203B41FA5}">
                      <a16:colId xmlns:a16="http://schemas.microsoft.com/office/drawing/2014/main" val="2764364128"/>
                    </a:ext>
                  </a:extLst>
                </a:gridCol>
              </a:tblGrid>
              <a:tr h="401665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Label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 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notes/Range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52021"/>
                  </a:ext>
                </a:extLst>
              </a:tr>
              <a:tr h="727012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  <a:p>
                      <a:pPr algn="ctr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cinematic work with descriptive and production metadata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 entity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70900"/>
                  </a:ext>
                </a:extLst>
              </a:tr>
              <a:tr h="395999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8997" marR="8997" marT="89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Production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production entity associated with a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Production company / </a:t>
                      </a:r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264045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8997" marR="8997" marT="89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who directs a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role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78269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8997" marR="8997" marT="89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who performs in a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role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012309"/>
                  </a:ext>
                </a:extLst>
              </a:tr>
              <a:tr h="401665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 Property</a:t>
                      </a:r>
                    </a:p>
                  </a:txBody>
                  <a:tcPr marL="8997" marR="8997" marT="89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Has Production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Links a movie to its production entity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Production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85227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Has Director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Links a movie to its director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4362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Has Actor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Links a movie to its actor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Actor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207245"/>
                  </a:ext>
                </a:extLst>
              </a:tr>
              <a:tr h="401665"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Property</a:t>
                      </a:r>
                    </a:p>
                  </a:txBody>
                  <a:tcPr marL="8997" marR="8997" marT="899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genre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Genre of the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xsd:string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04216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runtime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Duration of the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xsd:time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30743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releaseYear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Release year of the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xsd:gYear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54706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 description of the movie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xsd:string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639274"/>
                  </a:ext>
                </a:extLst>
              </a:tr>
              <a:tr h="401665">
                <a:tc vMerge="1"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 of a person or production</a:t>
                      </a: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xsd:string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97" marR="8997" marT="89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120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ONOTOLOGY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- 4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2AB8AF-521C-5EEB-BEA9-25F80921B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238" y="1689450"/>
            <a:ext cx="7892475" cy="36591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FCD648-2DB2-FF9D-6DDF-807E25953E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5262" y="1690950"/>
            <a:ext cx="9099600" cy="418957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AFB1B6-5656-9926-E154-93F9E9C755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763" y="5877450"/>
            <a:ext cx="9116625" cy="4169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ENTITY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5219" y="18209"/>
            <a:ext cx="335756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PHASE - 5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D82455-5A0C-00CD-2D48-C51E1A4A9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113" y="5701163"/>
            <a:ext cx="8972775" cy="418567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88E026-DF9A-9F68-3DBF-B4D83C2FA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7613" y="5765662"/>
            <a:ext cx="8497125" cy="414487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597895-87D8-157D-17CA-414C3E4E6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9113" y="1789163"/>
            <a:ext cx="7783725" cy="398347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40D333-33A7-87B4-EC96-194B06A02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613" y="1718663"/>
            <a:ext cx="8974500" cy="393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33450"/>
            <a:ext cx="1227674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 spc="-6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OPEN ISSUES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300C1-DA5B-B5BB-CB91-B2E6019CE75F}"/>
              </a:ext>
            </a:extLst>
          </p:cNvPr>
          <p:cNvSpPr txBox="1"/>
          <p:nvPr/>
        </p:nvSpPr>
        <p:spPr>
          <a:xfrm>
            <a:off x="1595887" y="1714500"/>
            <a:ext cx="1570007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en-US" sz="3600" b="1">
                <a:ea typeface="+mn-lt"/>
                <a:cs typeface="+mn-lt"/>
              </a:rPr>
              <a:t>Heterogeneous data formats:</a:t>
            </a:r>
            <a:r>
              <a:rPr lang="en-US" sz="3600">
                <a:ea typeface="+mn-lt"/>
                <a:cs typeface="+mn-lt"/>
              </a:rPr>
              <a:t> Wikipedia and Kinosan.mn differ significantly in structure, requiring extensive data cleaning.</a:t>
            </a:r>
          </a:p>
          <a:p>
            <a:pPr marL="742950" indent="-742950">
              <a:buAutoNum type="arabicPeriod"/>
            </a:pPr>
            <a:r>
              <a:rPr lang="en-US" sz="3600" b="1">
                <a:ea typeface="+mn-lt"/>
                <a:cs typeface="+mn-lt"/>
              </a:rPr>
              <a:t>Incomplete data:</a:t>
            </a:r>
            <a:r>
              <a:rPr lang="en-US" sz="3600">
                <a:ea typeface="+mn-lt"/>
                <a:cs typeface="+mn-lt"/>
              </a:rPr>
              <a:t> Many Mongolian films lack ratings, review counts, or award information.</a:t>
            </a:r>
          </a:p>
          <a:p>
            <a:pPr marL="742950" indent="-742950">
              <a:buAutoNum type="arabicPeriod"/>
            </a:pPr>
            <a:r>
              <a:rPr lang="en-US" sz="3600" b="1">
                <a:ea typeface="+mn-lt"/>
                <a:cs typeface="+mn-lt"/>
              </a:rPr>
              <a:t>Name inconsistency:</a:t>
            </a:r>
            <a:r>
              <a:rPr lang="en-US" sz="3600">
                <a:ea typeface="+mn-lt"/>
                <a:cs typeface="+mn-lt"/>
              </a:rPr>
              <a:t> No standardized transliteration or naming conventions for actors and directors.</a:t>
            </a:r>
          </a:p>
          <a:p>
            <a:pPr marL="742950" indent="-742950">
              <a:buAutoNum type="arabicPeriod"/>
            </a:pPr>
            <a:r>
              <a:rPr lang="en-US" sz="3600" b="1">
                <a:ea typeface="+mn-lt"/>
                <a:cs typeface="+mn-lt"/>
              </a:rPr>
              <a:t>Limited coverage:</a:t>
            </a:r>
            <a:r>
              <a:rPr lang="en-US" sz="3600">
                <a:ea typeface="+mn-lt"/>
                <a:cs typeface="+mn-lt"/>
              </a:rPr>
              <a:t> Older and lesser-known films are not fully represented.</a:t>
            </a:r>
            <a:endParaRPr lang="en-US" sz="36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C69EF-DC94-8AAB-4CA6-94B80D5B1CDB}"/>
              </a:ext>
            </a:extLst>
          </p:cNvPr>
          <p:cNvSpPr txBox="1"/>
          <p:nvPr/>
        </p:nvSpPr>
        <p:spPr>
          <a:xfrm>
            <a:off x="1466849" y="6248400"/>
            <a:ext cx="161163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>
                <a:ea typeface="Calibri"/>
                <a:cs typeface="Calibri"/>
              </a:rPr>
              <a:t>While the project establishes a solid foundation for a Mongolian film knowledge graph, addressing data heterogeneity, incompleteness, and naming inconsistencies remains essential for advanced analytics and comprehensive cultural insights.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57169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8306" y="2064768"/>
            <a:ext cx="14311387" cy="682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algn="just">
              <a:lnSpc>
                <a:spcPts val="3919"/>
              </a:lnSpc>
            </a:pPr>
            <a:r>
              <a:rPr lang="en-GB" sz="3600" spc="-41">
                <a:solidFill>
                  <a:srgbClr val="000000"/>
                </a:solidFill>
                <a:latin typeface="Calibri"/>
                <a:ea typeface="Calibri"/>
                <a:cs typeface="Calibri"/>
                <a:sym typeface="Prompt"/>
              </a:rPr>
              <a:t>While the project establishes a solid foundation for a Mongolian film knowledge graph, addressing data heterogeneity, incompleteness, and naming inconsistencies remains essential for advanced analytics and comprehensive cultural insights.</a:t>
            </a:r>
          </a:p>
          <a:p>
            <a:pPr marL="301625" lvl="1" algn="just">
              <a:lnSpc>
                <a:spcPts val="3919"/>
              </a:lnSpc>
            </a:pPr>
            <a:endParaRPr lang="en-GB" sz="3600" spc="-41">
              <a:latin typeface="Calibri"/>
              <a:ea typeface="Calibri"/>
              <a:cs typeface="Calibri"/>
            </a:endParaRPr>
          </a:p>
          <a:p>
            <a:pPr marL="301625" lvl="1" algn="just">
              <a:lnSpc>
                <a:spcPts val="3919"/>
              </a:lnSpc>
            </a:pPr>
            <a:r>
              <a:rPr lang="en-GB" sz="3600" b="1" spc="-41">
                <a:latin typeface="Calibri"/>
                <a:ea typeface="Calibri"/>
                <a:cs typeface="Calibri"/>
              </a:rPr>
              <a:t>Future work and opportunity:</a:t>
            </a:r>
          </a:p>
          <a:p>
            <a:pPr marL="873125" indent="-571500" algn="just">
              <a:buFont typeface="Arial"/>
              <a:buChar char="•"/>
            </a:pPr>
            <a:r>
              <a:rPr lang="en-GB" sz="3600" spc="-41">
                <a:latin typeface="Calibri"/>
                <a:ea typeface="Calibri"/>
                <a:cs typeface="Calibri"/>
              </a:rPr>
              <a:t>Expand data sources to include archives, awards, and review platforms.</a:t>
            </a:r>
          </a:p>
          <a:p>
            <a:pPr marL="873125" lvl="1" indent="-571500" algn="just">
              <a:buFont typeface="Arial"/>
              <a:buChar char="•"/>
            </a:pPr>
            <a:r>
              <a:rPr lang="en-GB" sz="3600" spc="-41">
                <a:latin typeface="Calibri"/>
                <a:ea typeface="Calibri"/>
                <a:cs typeface="Calibri"/>
              </a:rPr>
              <a:t>Improve name normalization and transliteration strategies.</a:t>
            </a:r>
            <a:endParaRPr lang="en-GB"/>
          </a:p>
          <a:p>
            <a:pPr marL="873125" lvl="1" indent="-571500" algn="just">
              <a:buFont typeface="Arial"/>
              <a:buChar char="•"/>
            </a:pPr>
            <a:r>
              <a:rPr lang="en-GB" sz="3600" spc="-41">
                <a:latin typeface="Calibri"/>
                <a:ea typeface="Calibri"/>
                <a:cs typeface="Calibri"/>
              </a:rPr>
              <a:t>Extend the ontology to support multiple directors and richer relationships.</a:t>
            </a:r>
            <a:endParaRPr lang="en-GB"/>
          </a:p>
          <a:p>
            <a:pPr marL="873125" lvl="1" indent="-571500" algn="just">
              <a:buFont typeface="Arial"/>
              <a:buChar char="•"/>
            </a:pPr>
            <a:r>
              <a:rPr lang="en-GB" sz="3600" spc="-41">
                <a:latin typeface="Calibri"/>
                <a:ea typeface="Calibri"/>
                <a:cs typeface="Calibri"/>
              </a:rPr>
              <a:t>Explore connections among films, filmmakers, actors, and studios.</a:t>
            </a:r>
            <a:endParaRPr lang="en-GB"/>
          </a:p>
          <a:p>
            <a:pPr marL="873125" lvl="1" indent="-571500" algn="just">
              <a:buFont typeface="Arial"/>
              <a:buChar char="•"/>
            </a:pPr>
            <a:r>
              <a:rPr lang="en-GB" sz="3600" spc="-41" err="1">
                <a:latin typeface="Calibri"/>
                <a:ea typeface="Calibri"/>
                <a:cs typeface="Calibri"/>
              </a:rPr>
              <a:t>Analyze</a:t>
            </a:r>
            <a:r>
              <a:rPr lang="en-GB" sz="3600" spc="-41">
                <a:latin typeface="Calibri"/>
                <a:ea typeface="Calibri"/>
                <a:cs typeface="Calibri"/>
              </a:rPr>
              <a:t> genres, award trends, and historical developments.</a:t>
            </a:r>
            <a:endParaRPr lang="en-GB"/>
          </a:p>
          <a:p>
            <a:pPr marL="873125" lvl="1" indent="-571500" algn="just">
              <a:buFont typeface="Arial"/>
              <a:buChar char="•"/>
            </a:pPr>
            <a:r>
              <a:rPr lang="en-GB" sz="3600" spc="-41">
                <a:latin typeface="Calibri"/>
                <a:ea typeface="Calibri"/>
                <a:cs typeface="Calibri"/>
              </a:rPr>
              <a:t>Enable single-query access to all essential film information.</a:t>
            </a:r>
            <a:endParaRPr lang="en-GB"/>
          </a:p>
          <a:p>
            <a:pPr marL="873125" lvl="1" indent="-571500" algn="just">
              <a:lnSpc>
                <a:spcPts val="3919"/>
              </a:lnSpc>
              <a:buFont typeface="Arial"/>
              <a:buChar char="•"/>
            </a:pPr>
            <a:endParaRPr lang="en-GB" sz="3600" spc="-4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40966" y="-782731"/>
            <a:ext cx="2659797" cy="2603276"/>
          </a:xfrm>
          <a:custGeom>
            <a:avLst/>
            <a:gdLst/>
            <a:ahLst/>
            <a:cxnLst/>
            <a:rect l="l" t="t" r="r" b="b"/>
            <a:pathLst>
              <a:path w="2659797" h="2603276">
                <a:moveTo>
                  <a:pt x="0" y="0"/>
                </a:moveTo>
                <a:lnTo>
                  <a:pt x="2659797" y="0"/>
                </a:lnTo>
                <a:lnTo>
                  <a:pt x="2659797" y="2603276"/>
                </a:lnTo>
                <a:lnTo>
                  <a:pt x="0" y="260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94761" y="-351016"/>
            <a:ext cx="3446923" cy="2171561"/>
          </a:xfrm>
          <a:custGeom>
            <a:avLst/>
            <a:gdLst/>
            <a:ahLst/>
            <a:cxnLst/>
            <a:rect l="l" t="t" r="r" b="b"/>
            <a:pathLst>
              <a:path w="3446923" h="2171561">
                <a:moveTo>
                  <a:pt x="0" y="0"/>
                </a:moveTo>
                <a:lnTo>
                  <a:pt x="3446922" y="0"/>
                </a:lnTo>
                <a:lnTo>
                  <a:pt x="3446922" y="2171561"/>
                </a:lnTo>
                <a:lnTo>
                  <a:pt x="0" y="2171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10520" y="2121918"/>
            <a:ext cx="7066960" cy="5370889"/>
          </a:xfrm>
          <a:custGeom>
            <a:avLst/>
            <a:gdLst/>
            <a:ahLst/>
            <a:cxnLst/>
            <a:rect l="l" t="t" r="r" b="b"/>
            <a:pathLst>
              <a:path w="7066960" h="5370889">
                <a:moveTo>
                  <a:pt x="0" y="0"/>
                </a:moveTo>
                <a:lnTo>
                  <a:pt x="7066960" y="0"/>
                </a:lnTo>
                <a:lnTo>
                  <a:pt x="7066960" y="5370889"/>
                </a:lnTo>
                <a:lnTo>
                  <a:pt x="0" y="5370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05627" y="923925"/>
            <a:ext cx="122767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spc="-77">
                <a:solidFill>
                  <a:srgbClr val="000000"/>
                </a:solidFill>
                <a:latin typeface="Prompt Semi-Bold"/>
                <a:ea typeface="Prompt Semi-Bold"/>
                <a:cs typeface="Prompt Semi-Bold"/>
                <a:sym typeface="Prompt Semi-Bold"/>
              </a:rPr>
              <a:t>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3333">
              <a:srgbClr val="F5FCFF">
                <a:alpha val="100000"/>
              </a:srgbClr>
            </a:gs>
            <a:gs pos="66667">
              <a:srgbClr val="E9FAFF">
                <a:alpha val="100000"/>
              </a:srgbClr>
            </a:gs>
            <a:gs pos="100000">
              <a:srgbClr val="D4FDFE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55743" y="1424623"/>
            <a:ext cx="9968885" cy="10146448"/>
          </a:xfrm>
          <a:custGeom>
            <a:avLst/>
            <a:gdLst/>
            <a:ahLst/>
            <a:cxnLst/>
            <a:rect l="l" t="t" r="r" b="b"/>
            <a:pathLst>
              <a:path w="9968885" h="10146448">
                <a:moveTo>
                  <a:pt x="0" y="0"/>
                </a:moveTo>
                <a:lnTo>
                  <a:pt x="9968886" y="0"/>
                </a:lnTo>
                <a:lnTo>
                  <a:pt x="9968886" y="10146448"/>
                </a:lnTo>
                <a:lnTo>
                  <a:pt x="0" y="10146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20798" y="-1370360"/>
            <a:ext cx="3689023" cy="3610632"/>
          </a:xfrm>
          <a:custGeom>
            <a:avLst/>
            <a:gdLst/>
            <a:ahLst/>
            <a:cxnLst/>
            <a:rect l="l" t="t" r="r" b="b"/>
            <a:pathLst>
              <a:path w="3689023" h="3610632">
                <a:moveTo>
                  <a:pt x="0" y="0"/>
                </a:moveTo>
                <a:lnTo>
                  <a:pt x="3689023" y="0"/>
                </a:lnTo>
                <a:lnTo>
                  <a:pt x="3689023" y="3610632"/>
                </a:lnTo>
                <a:lnTo>
                  <a:pt x="0" y="3610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86503" y="7926712"/>
            <a:ext cx="1901497" cy="2473492"/>
          </a:xfrm>
          <a:custGeom>
            <a:avLst/>
            <a:gdLst/>
            <a:ahLst/>
            <a:cxnLst/>
            <a:rect l="l" t="t" r="r" b="b"/>
            <a:pathLst>
              <a:path w="1901497" h="2473492">
                <a:moveTo>
                  <a:pt x="0" y="0"/>
                </a:moveTo>
                <a:lnTo>
                  <a:pt x="1901497" y="0"/>
                </a:lnTo>
                <a:lnTo>
                  <a:pt x="1901497" y="2473492"/>
                </a:lnTo>
                <a:lnTo>
                  <a:pt x="0" y="2473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10520" y="8593150"/>
            <a:ext cx="1389173" cy="1807055"/>
          </a:xfrm>
          <a:custGeom>
            <a:avLst/>
            <a:gdLst/>
            <a:ahLst/>
            <a:cxnLst/>
            <a:rect l="l" t="t" r="r" b="b"/>
            <a:pathLst>
              <a:path w="1389173" h="1807055">
                <a:moveTo>
                  <a:pt x="0" y="0"/>
                </a:moveTo>
                <a:lnTo>
                  <a:pt x="1389174" y="0"/>
                </a:lnTo>
                <a:lnTo>
                  <a:pt x="1389174" y="1807054"/>
                </a:lnTo>
                <a:lnTo>
                  <a:pt x="0" y="1807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05627" y="2607693"/>
            <a:ext cx="12276746" cy="2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00"/>
              </a:lnSpc>
            </a:pPr>
            <a:r>
              <a:rPr lang="en-US" sz="20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TEAM-1</dc:title>
  <dc:creator>Л.Сайнбуян</dc:creator>
  <cp:revision>1</cp:revision>
  <dcterms:created xsi:type="dcterms:W3CDTF">2006-08-16T00:00:00Z</dcterms:created>
  <dcterms:modified xsi:type="dcterms:W3CDTF">2025-12-22T14:34:18Z</dcterms:modified>
  <dc:identifier>DAG8H4Sv9ko</dc:identifier>
</cp:coreProperties>
</file>